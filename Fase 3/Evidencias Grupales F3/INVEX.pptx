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4135" y="31425"/>
            <a:ext cx="11371652" cy="10454460"/>
          </a:xfrm>
          <a:custGeom>
            <a:avLst/>
            <a:gdLst/>
            <a:ahLst/>
            <a:cxnLst/>
            <a:rect r="r" b="b" t="t" l="l"/>
            <a:pathLst>
              <a:path h="10454460" w="11371652">
                <a:moveTo>
                  <a:pt x="0" y="0"/>
                </a:moveTo>
                <a:lnTo>
                  <a:pt x="11371652" y="0"/>
                </a:lnTo>
                <a:lnTo>
                  <a:pt x="11371652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0" t="0" r="-27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1607" y="3480939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94291" y="6599149"/>
            <a:ext cx="7434120" cy="1039585"/>
            <a:chOff x="0" y="0"/>
            <a:chExt cx="1957957" cy="273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7957" cy="273800"/>
            </a:xfrm>
            <a:custGeom>
              <a:avLst/>
              <a:gdLst/>
              <a:ahLst/>
              <a:cxnLst/>
              <a:rect r="r" b="b" t="t" l="l"/>
              <a:pathLst>
                <a:path h="273800" w="1957957">
                  <a:moveTo>
                    <a:pt x="21869" y="0"/>
                  </a:moveTo>
                  <a:lnTo>
                    <a:pt x="1936088" y="0"/>
                  </a:lnTo>
                  <a:cubicBezTo>
                    <a:pt x="1948166" y="0"/>
                    <a:pt x="1957957" y="9791"/>
                    <a:pt x="1957957" y="21869"/>
                  </a:cubicBezTo>
                  <a:lnTo>
                    <a:pt x="1957957" y="251931"/>
                  </a:lnTo>
                  <a:cubicBezTo>
                    <a:pt x="1957957" y="264009"/>
                    <a:pt x="1948166" y="273800"/>
                    <a:pt x="1936088" y="273800"/>
                  </a:cubicBezTo>
                  <a:lnTo>
                    <a:pt x="21869" y="273800"/>
                  </a:lnTo>
                  <a:cubicBezTo>
                    <a:pt x="9791" y="273800"/>
                    <a:pt x="0" y="264009"/>
                    <a:pt x="0" y="251931"/>
                  </a:cubicBezTo>
                  <a:lnTo>
                    <a:pt x="0" y="21869"/>
                  </a:lnTo>
                  <a:cubicBezTo>
                    <a:pt x="0" y="9791"/>
                    <a:pt x="9791" y="0"/>
                    <a:pt x="218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957957" cy="26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03833" y="404707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65406" y="8030715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84933">
            <a:off x="11325215" y="1819332"/>
            <a:ext cx="1028004" cy="10280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662074">
            <a:off x="5819525" y="9196894"/>
            <a:ext cx="2180212" cy="218021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3143913">
            <a:off x="206036" y="8701691"/>
            <a:ext cx="1314926" cy="13149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7718068">
            <a:off x="14035606" y="-1298960"/>
            <a:ext cx="3927080" cy="39270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80524" y="31425"/>
            <a:ext cx="9224524" cy="10454460"/>
          </a:xfrm>
          <a:custGeom>
            <a:avLst/>
            <a:gdLst/>
            <a:ahLst/>
            <a:cxnLst/>
            <a:rect r="r" b="b" t="t" l="l"/>
            <a:pathLst>
              <a:path h="10454460" w="9224524">
                <a:moveTo>
                  <a:pt x="0" y="0"/>
                </a:moveTo>
                <a:lnTo>
                  <a:pt x="9224524" y="0"/>
                </a:lnTo>
                <a:lnTo>
                  <a:pt x="9224524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475436" y="4425004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52"/>
              </a:lnSpc>
            </a:pPr>
            <a:r>
              <a:rPr lang="en-US" b="true" sz="5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PROYECTO 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5257" y="5338824"/>
            <a:ext cx="6423154" cy="14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3"/>
              </a:lnSpc>
            </a:pPr>
            <a:r>
              <a:rPr lang="en-US" sz="2802" spc="4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</a:p>
          <a:p>
            <a:pPr algn="r">
              <a:lnSpc>
                <a:spcPts val="392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533391" y="6824712"/>
            <a:ext cx="304560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1762" y="6800582"/>
            <a:ext cx="499524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ARACELI HUENANTE, CATALINA HERRERA Y ANDERSON TINEO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8297" y="3253066"/>
            <a:ext cx="7467621" cy="74676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48925" y="2246402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829072" y="1514530"/>
            <a:ext cx="1463744" cy="14637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84933">
            <a:off x="5047621" y="1984463"/>
            <a:ext cx="622170" cy="62217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21148" y="8802600"/>
            <a:ext cx="2046862" cy="1831941"/>
          </a:xfrm>
          <a:custGeom>
            <a:avLst/>
            <a:gdLst/>
            <a:ahLst/>
            <a:cxnLst/>
            <a:rect r="r" b="b" t="t" l="l"/>
            <a:pathLst>
              <a:path h="1831941" w="2046862">
                <a:moveTo>
                  <a:pt x="0" y="0"/>
                </a:moveTo>
                <a:lnTo>
                  <a:pt x="2046862" y="0"/>
                </a:lnTo>
                <a:lnTo>
                  <a:pt x="2046862" y="1831942"/>
                </a:lnTo>
                <a:lnTo>
                  <a:pt x="0" y="183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84933">
            <a:off x="-783175" y="8701542"/>
            <a:ext cx="1566350" cy="15663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189835" y="-686890"/>
            <a:ext cx="2527551" cy="252755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590088">
            <a:off x="16959205" y="3202636"/>
            <a:ext cx="998837" cy="9988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-583674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98899" y="1028700"/>
            <a:ext cx="15758674" cy="9080936"/>
          </a:xfrm>
          <a:custGeom>
            <a:avLst/>
            <a:gdLst/>
            <a:ahLst/>
            <a:cxnLst/>
            <a:rect r="r" b="b" t="t" l="l"/>
            <a:pathLst>
              <a:path h="9080936" w="15758674">
                <a:moveTo>
                  <a:pt x="0" y="0"/>
                </a:moveTo>
                <a:lnTo>
                  <a:pt x="15758674" y="0"/>
                </a:lnTo>
                <a:lnTo>
                  <a:pt x="15758674" y="9080936"/>
                </a:lnTo>
                <a:lnTo>
                  <a:pt x="0" y="908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18981" y="3047782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Definición del Proyecto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981" y="2547548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8981" y="4625703"/>
            <a:ext cx="8604642" cy="232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Invex es una plataforma web diseñada para Pymes que 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centraliza la gestión de inventario 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utiliza Inteligencia Artificial para predecir la demanda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. Nuestra línea de desarrollo se enfoca en transformar el stock de un </a:t>
            </a:r>
            <a:r>
              <a:rPr lang="en-US" b="true" sz="2207">
                <a:solidFill>
                  <a:srgbClr val="C53441"/>
                </a:solidFill>
                <a:latin typeface="Inter Bold"/>
                <a:ea typeface="Inter Bold"/>
                <a:cs typeface="Inter Bold"/>
                <a:sym typeface="Inter Bold"/>
              </a:rPr>
              <a:t>costo operativo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207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a un activo de inversión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, solucionando la falta de digitalización mediante una arquitectura web moderna y escalable.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493672">
            <a:off x="11363943" y="-4178353"/>
            <a:ext cx="11790714" cy="11790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3803" y="382153"/>
            <a:ext cx="8415086" cy="8383529"/>
          </a:xfrm>
          <a:custGeom>
            <a:avLst/>
            <a:gdLst/>
            <a:ahLst/>
            <a:cxnLst/>
            <a:rect r="r" b="b" t="t" l="l"/>
            <a:pathLst>
              <a:path h="8383529" w="8415086">
                <a:moveTo>
                  <a:pt x="0" y="0"/>
                </a:moveTo>
                <a:lnTo>
                  <a:pt x="8415086" y="0"/>
                </a:lnTo>
                <a:lnTo>
                  <a:pt x="8415086" y="8383530"/>
                </a:lnTo>
                <a:lnTo>
                  <a:pt x="0" y="838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1504" y="3154815"/>
            <a:ext cx="4715226" cy="617606"/>
            <a:chOff x="0" y="0"/>
            <a:chExt cx="1147770" cy="1503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7770" cy="150336"/>
            </a:xfrm>
            <a:custGeom>
              <a:avLst/>
              <a:gdLst/>
              <a:ahLst/>
              <a:cxnLst/>
              <a:rect r="r" b="b" t="t" l="l"/>
              <a:pathLst>
                <a:path h="150336" w="1147770">
                  <a:moveTo>
                    <a:pt x="37764" y="0"/>
                  </a:moveTo>
                  <a:lnTo>
                    <a:pt x="1110007" y="0"/>
                  </a:lnTo>
                  <a:cubicBezTo>
                    <a:pt x="1120022" y="0"/>
                    <a:pt x="1129627" y="3979"/>
                    <a:pt x="1136709" y="11061"/>
                  </a:cubicBezTo>
                  <a:cubicBezTo>
                    <a:pt x="1143792" y="18143"/>
                    <a:pt x="1147770" y="27748"/>
                    <a:pt x="1147770" y="37764"/>
                  </a:cubicBezTo>
                  <a:lnTo>
                    <a:pt x="1147770" y="112573"/>
                  </a:lnTo>
                  <a:cubicBezTo>
                    <a:pt x="1147770" y="122588"/>
                    <a:pt x="1143792" y="132194"/>
                    <a:pt x="1136709" y="139276"/>
                  </a:cubicBezTo>
                  <a:cubicBezTo>
                    <a:pt x="1129627" y="146358"/>
                    <a:pt x="1120022" y="150336"/>
                    <a:pt x="1110007" y="150336"/>
                  </a:cubicBezTo>
                  <a:lnTo>
                    <a:pt x="37764" y="150336"/>
                  </a:lnTo>
                  <a:cubicBezTo>
                    <a:pt x="27748" y="150336"/>
                    <a:pt x="18143" y="146358"/>
                    <a:pt x="11061" y="139276"/>
                  </a:cubicBezTo>
                  <a:cubicBezTo>
                    <a:pt x="3979" y="132194"/>
                    <a:pt x="0" y="122588"/>
                    <a:pt x="0" y="112573"/>
                  </a:cubicBezTo>
                  <a:lnTo>
                    <a:pt x="0" y="37764"/>
                  </a:lnTo>
                  <a:cubicBezTo>
                    <a:pt x="0" y="27748"/>
                    <a:pt x="3979" y="18143"/>
                    <a:pt x="11061" y="11061"/>
                  </a:cubicBezTo>
                  <a:cubicBezTo>
                    <a:pt x="18143" y="3979"/>
                    <a:pt x="27748" y="0"/>
                    <a:pt x="37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7770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5690" y="2959300"/>
            <a:ext cx="825503" cy="813121"/>
          </a:xfrm>
          <a:custGeom>
            <a:avLst/>
            <a:gdLst/>
            <a:ahLst/>
            <a:cxnLst/>
            <a:rect r="r" b="b" t="t" l="l"/>
            <a:pathLst>
              <a:path h="813121" w="825503">
                <a:moveTo>
                  <a:pt x="0" y="0"/>
                </a:moveTo>
                <a:lnTo>
                  <a:pt x="825504" y="0"/>
                </a:lnTo>
                <a:lnTo>
                  <a:pt x="825504" y="813121"/>
                </a:lnTo>
                <a:lnTo>
                  <a:pt x="0" y="813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42047" y="3120415"/>
            <a:ext cx="4788497" cy="610725"/>
            <a:chOff x="0" y="0"/>
            <a:chExt cx="1178738" cy="150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8738" cy="150336"/>
            </a:xfrm>
            <a:custGeom>
              <a:avLst/>
              <a:gdLst/>
              <a:ahLst/>
              <a:cxnLst/>
              <a:rect r="r" b="b" t="t" l="l"/>
              <a:pathLst>
                <a:path h="150336" w="1178738">
                  <a:moveTo>
                    <a:pt x="37186" y="0"/>
                  </a:moveTo>
                  <a:lnTo>
                    <a:pt x="1141552" y="0"/>
                  </a:lnTo>
                  <a:cubicBezTo>
                    <a:pt x="1162089" y="0"/>
                    <a:pt x="1178738" y="16649"/>
                    <a:pt x="1178738" y="37186"/>
                  </a:cubicBezTo>
                  <a:lnTo>
                    <a:pt x="1178738" y="113150"/>
                  </a:lnTo>
                  <a:cubicBezTo>
                    <a:pt x="1178738" y="133688"/>
                    <a:pt x="1162089" y="150336"/>
                    <a:pt x="1141552" y="150336"/>
                  </a:cubicBezTo>
                  <a:lnTo>
                    <a:pt x="37186" y="150336"/>
                  </a:lnTo>
                  <a:cubicBezTo>
                    <a:pt x="27324" y="150336"/>
                    <a:pt x="17865" y="146419"/>
                    <a:pt x="10891" y="139445"/>
                  </a:cubicBezTo>
                  <a:cubicBezTo>
                    <a:pt x="3918" y="132471"/>
                    <a:pt x="0" y="123013"/>
                    <a:pt x="0" y="113150"/>
                  </a:cubicBezTo>
                  <a:lnTo>
                    <a:pt x="0" y="37186"/>
                  </a:lnTo>
                  <a:cubicBezTo>
                    <a:pt x="0" y="27324"/>
                    <a:pt x="3918" y="17865"/>
                    <a:pt x="10891" y="10891"/>
                  </a:cubicBezTo>
                  <a:cubicBezTo>
                    <a:pt x="17865" y="3918"/>
                    <a:pt x="27324" y="0"/>
                    <a:pt x="371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8738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069781" y="3007043"/>
            <a:ext cx="1204106" cy="833843"/>
          </a:xfrm>
          <a:custGeom>
            <a:avLst/>
            <a:gdLst/>
            <a:ahLst/>
            <a:cxnLst/>
            <a:rect r="r" b="b" t="t" l="l"/>
            <a:pathLst>
              <a:path h="833843" w="1204106">
                <a:moveTo>
                  <a:pt x="0" y="0"/>
                </a:moveTo>
                <a:lnTo>
                  <a:pt x="1204106" y="0"/>
                </a:lnTo>
                <a:lnTo>
                  <a:pt x="1204106" y="833843"/>
                </a:lnTo>
                <a:lnTo>
                  <a:pt x="0" y="83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938509"/>
            <a:ext cx="1080725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PROBLEMÁTICA Y SOLUCIÓN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438275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4716" y="3187587"/>
            <a:ext cx="3765217" cy="41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b="true" sz="238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PROBLEMÁTICA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55732" y="3199129"/>
            <a:ext cx="3723271" cy="4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SOLUCIÓN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7400" y="935720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35797" y="-142646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7718068">
            <a:off x="16838435" y="8936341"/>
            <a:ext cx="841730" cy="84173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3310" y="4398341"/>
            <a:ext cx="4027738" cy="1247100"/>
            <a:chOff x="0" y="0"/>
            <a:chExt cx="1060804" cy="328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40522" y="4699157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Plataforma web con carga masiva y control total.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40522" y="4004524"/>
            <a:ext cx="3410216" cy="570808"/>
            <a:chOff x="0" y="0"/>
            <a:chExt cx="898164" cy="150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557994" y="4085919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Centralizada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222427" y="6371697"/>
            <a:ext cx="4027738" cy="1247100"/>
            <a:chOff x="0" y="0"/>
            <a:chExt cx="1060804" cy="3284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69639" y="6672513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Anticipación de demanda para compras inteligentes.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69639" y="5977879"/>
            <a:ext cx="3410216" cy="570808"/>
            <a:chOff x="0" y="0"/>
            <a:chExt cx="898164" cy="150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587111" y="6059275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Proyecciones IA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284083" y="8288838"/>
            <a:ext cx="4027738" cy="1247100"/>
            <a:chOff x="0" y="0"/>
            <a:chExt cx="1060804" cy="3284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631295" y="858965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Visualización de KPIs y alertas en tiempo real.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631295" y="7895021"/>
            <a:ext cx="3410216" cy="570808"/>
            <a:chOff x="0" y="0"/>
            <a:chExt cx="898164" cy="150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648768" y="797641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Estratégico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4716" y="4537713"/>
            <a:ext cx="4027738" cy="1247100"/>
            <a:chOff x="0" y="0"/>
            <a:chExt cx="1060804" cy="3284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61929" y="4838529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Procesos manuales que generan errores y fugas de dinero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61929" y="4143896"/>
            <a:ext cx="3410216" cy="570808"/>
            <a:chOff x="0" y="0"/>
            <a:chExt cx="898164" cy="150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79401" y="4225291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Falta de Control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43833" y="6511068"/>
            <a:ext cx="4027738" cy="1247100"/>
            <a:chOff x="0" y="0"/>
            <a:chExt cx="1060804" cy="3284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91045" y="681188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Pérdida de ventas por no tener producto crítico.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91045" y="6117251"/>
            <a:ext cx="3410216" cy="570808"/>
            <a:chOff x="0" y="0"/>
            <a:chExt cx="898164" cy="150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08517" y="619864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Quiebres de Stock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05490" y="8428210"/>
            <a:ext cx="4027738" cy="1247100"/>
            <a:chOff x="0" y="0"/>
            <a:chExt cx="1060804" cy="3284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52702" y="8729026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Exceso de mercancía "dormida" que aumenta costos.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52702" y="8034393"/>
            <a:ext cx="3410216" cy="570808"/>
            <a:chOff x="0" y="0"/>
            <a:chExt cx="898164" cy="150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170174" y="8115788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Sobrecarga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550" y="2357473"/>
            <a:ext cx="2303781" cy="2061884"/>
          </a:xfrm>
          <a:custGeom>
            <a:avLst/>
            <a:gdLst/>
            <a:ahLst/>
            <a:cxnLst/>
            <a:rect r="r" b="b" t="t" l="l"/>
            <a:pathLst>
              <a:path h="2061884" w="2303781">
                <a:moveTo>
                  <a:pt x="0" y="0"/>
                </a:moveTo>
                <a:lnTo>
                  <a:pt x="2303782" y="0"/>
                </a:lnTo>
                <a:lnTo>
                  <a:pt x="2303782" y="2061885"/>
                </a:lnTo>
                <a:lnTo>
                  <a:pt x="0" y="206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7481" y="3513277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33427">
            <a:off x="897610" y="977422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37989">
            <a:off x="5753650" y="473498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2971382">
            <a:off x="15868774" y="7917081"/>
            <a:ext cx="3176269" cy="317626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971382">
            <a:off x="345777" y="4103203"/>
            <a:ext cx="1213129" cy="12131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9147693">
            <a:off x="8884920" y="-3059290"/>
            <a:ext cx="4232519" cy="42325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035225" y="-42226"/>
            <a:ext cx="3283515" cy="2938746"/>
          </a:xfrm>
          <a:custGeom>
            <a:avLst/>
            <a:gdLst/>
            <a:ahLst/>
            <a:cxnLst/>
            <a:rect r="r" b="b" t="t" l="l"/>
            <a:pathLst>
              <a:path h="2938746" w="3283515">
                <a:moveTo>
                  <a:pt x="0" y="0"/>
                </a:moveTo>
                <a:lnTo>
                  <a:pt x="3283515" y="0"/>
                </a:lnTo>
                <a:lnTo>
                  <a:pt x="3283515" y="2938746"/>
                </a:lnTo>
                <a:lnTo>
                  <a:pt x="0" y="293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87697" y="7266249"/>
            <a:ext cx="3631708" cy="3250379"/>
          </a:xfrm>
          <a:custGeom>
            <a:avLst/>
            <a:gdLst/>
            <a:ahLst/>
            <a:cxnLst/>
            <a:rect r="r" b="b" t="t" l="l"/>
            <a:pathLst>
              <a:path h="3250379" w="3631708">
                <a:moveTo>
                  <a:pt x="0" y="0"/>
                </a:moveTo>
                <a:lnTo>
                  <a:pt x="3631708" y="0"/>
                </a:lnTo>
                <a:lnTo>
                  <a:pt x="3631708" y="3250378"/>
                </a:lnTo>
                <a:lnTo>
                  <a:pt x="0" y="325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80396" y="482510"/>
            <a:ext cx="8226647" cy="9321979"/>
          </a:xfrm>
          <a:custGeom>
            <a:avLst/>
            <a:gdLst/>
            <a:ahLst/>
            <a:cxnLst/>
            <a:rect r="r" b="b" t="t" l="l"/>
            <a:pathLst>
              <a:path h="9321979" w="8226647">
                <a:moveTo>
                  <a:pt x="0" y="0"/>
                </a:moveTo>
                <a:lnTo>
                  <a:pt x="8226647" y="0"/>
                </a:lnTo>
                <a:lnTo>
                  <a:pt x="8226647" y="9321980"/>
                </a:lnTo>
                <a:lnTo>
                  <a:pt x="0" y="9321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55701" y="4576168"/>
            <a:ext cx="11690956" cy="197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88"/>
              </a:lnSpc>
            </a:pP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 la plataforma de inteligencia de inventario </a:t>
            </a:r>
            <a:r>
              <a:rPr lang="en-US" b="true" sz="3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más precisa y automatizada del mercado</a:t>
            </a: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transformando el stock de nuestros clientes de un</a:t>
            </a:r>
            <a:r>
              <a:rPr lang="en-US" b="true" sz="3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costo operativo a un activo de inversión optimizado</a:t>
            </a: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454106" y="6069667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082303">
            <a:off x="607013" y="5997130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3" y="0"/>
                </a:lnTo>
                <a:lnTo>
                  <a:pt x="1443573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09184" y="-391848"/>
            <a:ext cx="3150471" cy="3154414"/>
          </a:xfrm>
          <a:custGeom>
            <a:avLst/>
            <a:gdLst/>
            <a:ahLst/>
            <a:cxnLst/>
            <a:rect r="r" b="b" t="t" l="l"/>
            <a:pathLst>
              <a:path h="3154414" w="3150471">
                <a:moveTo>
                  <a:pt x="0" y="0"/>
                </a:moveTo>
                <a:lnTo>
                  <a:pt x="3150471" y="0"/>
                </a:lnTo>
                <a:lnTo>
                  <a:pt x="3150471" y="3154414"/>
                </a:lnTo>
                <a:lnTo>
                  <a:pt x="0" y="315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62516" y="3824818"/>
            <a:ext cx="7994547" cy="59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83"/>
              </a:lnSpc>
            </a:pPr>
            <a:r>
              <a:rPr lang="en-US" sz="3488" spc="558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20322" y="1835698"/>
            <a:ext cx="6423154" cy="58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3"/>
              </a:lnSpc>
            </a:pPr>
            <a:r>
              <a:rPr lang="en-US" sz="3402" spc="544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24225" y="2468933"/>
            <a:ext cx="9293716" cy="83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36"/>
              </a:lnSpc>
            </a:pPr>
            <a:r>
              <a:rPr lang="en-US" b="true" sz="5501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Nuestra Visión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718068">
            <a:off x="15472226" y="-565006"/>
            <a:ext cx="3097973" cy="30979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49609" y="881435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948544" y="991570"/>
            <a:ext cx="622170" cy="6221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619564" y="5550482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619564" y="6208196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619564" y="6865910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619564" y="7523624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92612" y="374775"/>
            <a:ext cx="10848892" cy="10284409"/>
          </a:xfrm>
          <a:custGeom>
            <a:avLst/>
            <a:gdLst/>
            <a:ahLst/>
            <a:cxnLst/>
            <a:rect r="r" b="b" t="t" l="l"/>
            <a:pathLst>
              <a:path h="10284409" w="10848892">
                <a:moveTo>
                  <a:pt x="0" y="0"/>
                </a:moveTo>
                <a:lnTo>
                  <a:pt x="10848892" y="0"/>
                </a:lnTo>
                <a:lnTo>
                  <a:pt x="10848892" y="10284409"/>
                </a:lnTo>
                <a:lnTo>
                  <a:pt x="0" y="1028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6" t="0" r="-45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48012" y="-1501780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89699" y="3058785"/>
            <a:ext cx="5415546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Desarrollo Ágil con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9699" y="5105400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Organización en Sprints (Ciclos de 2 semanas)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9699" y="5720159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Desarrollo modular basado en Épicas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9699" y="6334918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Entregas incrementales y funcionales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9699" y="6949677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Priorización por Historias de Usuario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9699" y="7564436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Adaptabilidad y mejora continua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9699" y="249187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9663281">
            <a:off x="13343777" y="6302467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8169440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02639" y="2259896"/>
            <a:ext cx="12710050" cy="6046424"/>
          </a:xfrm>
          <a:custGeom>
            <a:avLst/>
            <a:gdLst/>
            <a:ahLst/>
            <a:cxnLst/>
            <a:rect r="r" b="b" t="t" l="l"/>
            <a:pathLst>
              <a:path h="6046424" w="12710050">
                <a:moveTo>
                  <a:pt x="0" y="0"/>
                </a:moveTo>
                <a:lnTo>
                  <a:pt x="12710051" y="0"/>
                </a:lnTo>
                <a:lnTo>
                  <a:pt x="12710051" y="6046425"/>
                </a:lnTo>
                <a:lnTo>
                  <a:pt x="0" y="604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33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04950" y="2514300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Estructura del Sistema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4950" y="201406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3621486"/>
            <a:ext cx="7866788" cy="4547954"/>
            <a:chOff x="0" y="0"/>
            <a:chExt cx="10489051" cy="6063939"/>
          </a:xfrm>
        </p:grpSpPr>
        <p:sp>
          <p:nvSpPr>
            <p:cNvPr name="AutoShape 24" id="24"/>
            <p:cNvSpPr/>
            <p:nvPr/>
          </p:nvSpPr>
          <p:spPr>
            <a:xfrm>
              <a:off x="123568" y="1748777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23568" y="615027"/>
              <a:ext cx="9782573" cy="25238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0" y="3435807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23568" y="4605509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6051239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123568" y="922187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 Reactivo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12861" y="731475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Interfaz construida en Vue.js (SPA) para una navegación rápida y fluida.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649512" y="2001553"/>
              <a:ext cx="6347849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Conexión mediante REST API, intercambiando datos ligeros en formato JSON.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799" y="2066158"/>
              <a:ext cx="3357483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Comunicación Eficiente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3568" y="-47625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Puntos Clave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3568" y="3778918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 Robusto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812861" y="3588207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Lógica de negocio y seguridad gestionada por Django (Python).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649512" y="4858285"/>
              <a:ext cx="6347849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Base de datos relacional PostgreSQL para máxima integridad de datos.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7799" y="4922890"/>
              <a:ext cx="335748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Persistencia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925" y="7071587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4" y="0"/>
                </a:lnTo>
                <a:lnTo>
                  <a:pt x="721734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38541" y="2114044"/>
            <a:ext cx="12489184" cy="7384230"/>
          </a:xfrm>
          <a:custGeom>
            <a:avLst/>
            <a:gdLst/>
            <a:ahLst/>
            <a:cxnLst/>
            <a:rect r="r" b="b" t="t" l="l"/>
            <a:pathLst>
              <a:path h="7384230" w="12489184">
                <a:moveTo>
                  <a:pt x="0" y="0"/>
                </a:moveTo>
                <a:lnTo>
                  <a:pt x="12489184" y="0"/>
                </a:lnTo>
                <a:lnTo>
                  <a:pt x="12489184" y="7384230"/>
                </a:lnTo>
                <a:lnTo>
                  <a:pt x="0" y="7384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74204" y="1021848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Base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4204" y="521614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925" y="7071587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4" y="0"/>
                </a:lnTo>
                <a:lnTo>
                  <a:pt x="721734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11707" y="101511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3396" y="862797"/>
            <a:ext cx="8244346" cy="5915318"/>
          </a:xfrm>
          <a:custGeom>
            <a:avLst/>
            <a:gdLst/>
            <a:ahLst/>
            <a:cxnLst/>
            <a:rect r="r" b="b" t="t" l="l"/>
            <a:pathLst>
              <a:path h="5915318" w="8244346">
                <a:moveTo>
                  <a:pt x="0" y="0"/>
                </a:moveTo>
                <a:lnTo>
                  <a:pt x="8244345" y="0"/>
                </a:lnTo>
                <a:lnTo>
                  <a:pt x="8244345" y="5915318"/>
                </a:lnTo>
                <a:lnTo>
                  <a:pt x="0" y="5915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85015" y="1163903"/>
            <a:ext cx="7329073" cy="4177572"/>
          </a:xfrm>
          <a:custGeom>
            <a:avLst/>
            <a:gdLst/>
            <a:ahLst/>
            <a:cxnLst/>
            <a:rect r="r" b="b" t="t" l="l"/>
            <a:pathLst>
              <a:path h="4177572" w="7329073">
                <a:moveTo>
                  <a:pt x="0" y="0"/>
                </a:moveTo>
                <a:lnTo>
                  <a:pt x="7329073" y="0"/>
                </a:lnTo>
                <a:lnTo>
                  <a:pt x="7329073" y="4177572"/>
                </a:lnTo>
                <a:lnTo>
                  <a:pt x="0" y="4177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73743" y="5387953"/>
            <a:ext cx="8952553" cy="3536258"/>
          </a:xfrm>
          <a:custGeom>
            <a:avLst/>
            <a:gdLst/>
            <a:ahLst/>
            <a:cxnLst/>
            <a:rect r="r" b="b" t="t" l="l"/>
            <a:pathLst>
              <a:path h="3536258" w="8952553">
                <a:moveTo>
                  <a:pt x="0" y="0"/>
                </a:moveTo>
                <a:lnTo>
                  <a:pt x="8952553" y="0"/>
                </a:lnTo>
                <a:lnTo>
                  <a:pt x="8952553" y="3536258"/>
                </a:lnTo>
                <a:lnTo>
                  <a:pt x="0" y="3536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2152" y="1139367"/>
            <a:ext cx="729339" cy="754717"/>
            <a:chOff x="0" y="0"/>
            <a:chExt cx="812800" cy="8410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14661" y="1590215"/>
            <a:ext cx="729339" cy="754717"/>
            <a:chOff x="0" y="0"/>
            <a:chExt cx="812800" cy="8410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14661" y="6341600"/>
            <a:ext cx="729339" cy="754717"/>
            <a:chOff x="0" y="0"/>
            <a:chExt cx="812800" cy="8410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7718068">
            <a:off x="-127391" y="4792271"/>
            <a:ext cx="2734676" cy="2620153"/>
            <a:chOff x="0" y="0"/>
            <a:chExt cx="84832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8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48326">
                  <a:moveTo>
                    <a:pt x="424163" y="0"/>
                  </a:moveTo>
                  <a:cubicBezTo>
                    <a:pt x="189904" y="0"/>
                    <a:pt x="0" y="181951"/>
                    <a:pt x="0" y="406400"/>
                  </a:cubicBezTo>
                  <a:cubicBezTo>
                    <a:pt x="0" y="630849"/>
                    <a:pt x="189904" y="812800"/>
                    <a:pt x="424163" y="812800"/>
                  </a:cubicBezTo>
                  <a:cubicBezTo>
                    <a:pt x="658422" y="812800"/>
                    <a:pt x="848326" y="630849"/>
                    <a:pt x="848326" y="406400"/>
                  </a:cubicBezTo>
                  <a:cubicBezTo>
                    <a:pt x="848326" y="181951"/>
                    <a:pt x="658422" y="0"/>
                    <a:pt x="424163" y="0"/>
                  </a:cubicBezTo>
                  <a:close/>
                </a:path>
              </a:pathLst>
            </a:custGeom>
            <a:solidFill>
              <a:srgbClr val="5C86C8">
                <a:alpha val="8392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9531" y="38100"/>
              <a:ext cx="68926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8787" y="3016330"/>
            <a:ext cx="4721222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Gestión de Inventario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8787" y="2020722"/>
            <a:ext cx="3637067" cy="9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(CRUD &amp; IMPORTACIÓN)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876798" y="8346770"/>
            <a:ext cx="6725739" cy="773757"/>
            <a:chOff x="0" y="0"/>
            <a:chExt cx="1771388" cy="2037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1388" cy="203788"/>
            </a:xfrm>
            <a:custGeom>
              <a:avLst/>
              <a:gdLst/>
              <a:ahLst/>
              <a:cxnLst/>
              <a:rect r="r" b="b" t="t" l="l"/>
              <a:pathLst>
                <a:path h="203788" w="1771388">
                  <a:moveTo>
                    <a:pt x="101894" y="0"/>
                  </a:moveTo>
                  <a:lnTo>
                    <a:pt x="1669494" y="0"/>
                  </a:lnTo>
                  <a:cubicBezTo>
                    <a:pt x="1696518" y="0"/>
                    <a:pt x="1722435" y="10735"/>
                    <a:pt x="1741544" y="29844"/>
                  </a:cubicBezTo>
                  <a:cubicBezTo>
                    <a:pt x="1760653" y="48953"/>
                    <a:pt x="1771388" y="74870"/>
                    <a:pt x="1771388" y="101894"/>
                  </a:cubicBezTo>
                  <a:lnTo>
                    <a:pt x="1771388" y="101894"/>
                  </a:lnTo>
                  <a:cubicBezTo>
                    <a:pt x="1771388" y="158168"/>
                    <a:pt x="1725769" y="203788"/>
                    <a:pt x="1669494" y="203788"/>
                  </a:cubicBezTo>
                  <a:lnTo>
                    <a:pt x="101894" y="203788"/>
                  </a:lnTo>
                  <a:cubicBezTo>
                    <a:pt x="74870" y="203788"/>
                    <a:pt x="48953" y="193053"/>
                    <a:pt x="29844" y="173944"/>
                  </a:cubicBezTo>
                  <a:cubicBezTo>
                    <a:pt x="10735" y="154835"/>
                    <a:pt x="0" y="128918"/>
                    <a:pt x="0" y="101894"/>
                  </a:cubicBezTo>
                  <a:lnTo>
                    <a:pt x="0" y="101894"/>
                  </a:lnTo>
                  <a:cubicBezTo>
                    <a:pt x="0" y="74870"/>
                    <a:pt x="10735" y="48953"/>
                    <a:pt x="29844" y="29844"/>
                  </a:cubicBezTo>
                  <a:cubicBezTo>
                    <a:pt x="48953" y="10735"/>
                    <a:pt x="74870" y="0"/>
                    <a:pt x="101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1388" cy="24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Facilidad para digitalizar el stock en segundos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80843" y="5977402"/>
            <a:ext cx="3638507" cy="3656791"/>
          </a:xfrm>
          <a:custGeom>
            <a:avLst/>
            <a:gdLst/>
            <a:ahLst/>
            <a:cxnLst/>
            <a:rect r="r" b="b" t="t" l="l"/>
            <a:pathLst>
              <a:path h="3656791" w="3638507">
                <a:moveTo>
                  <a:pt x="0" y="0"/>
                </a:moveTo>
                <a:lnTo>
                  <a:pt x="3638507" y="0"/>
                </a:lnTo>
                <a:lnTo>
                  <a:pt x="3638507" y="3656791"/>
                </a:lnTo>
                <a:lnTo>
                  <a:pt x="0" y="3656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8787" y="3016330"/>
            <a:ext cx="4721222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Dashboard e Indicadores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876798" y="8346770"/>
            <a:ext cx="6725739" cy="773757"/>
            <a:chOff x="0" y="0"/>
            <a:chExt cx="1771388" cy="2037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1388" cy="203788"/>
            </a:xfrm>
            <a:custGeom>
              <a:avLst/>
              <a:gdLst/>
              <a:ahLst/>
              <a:cxnLst/>
              <a:rect r="r" b="b" t="t" l="l"/>
              <a:pathLst>
                <a:path h="203788" w="1771388">
                  <a:moveTo>
                    <a:pt x="101894" y="0"/>
                  </a:moveTo>
                  <a:lnTo>
                    <a:pt x="1669494" y="0"/>
                  </a:lnTo>
                  <a:cubicBezTo>
                    <a:pt x="1696518" y="0"/>
                    <a:pt x="1722435" y="10735"/>
                    <a:pt x="1741544" y="29844"/>
                  </a:cubicBezTo>
                  <a:cubicBezTo>
                    <a:pt x="1760653" y="48953"/>
                    <a:pt x="1771388" y="74870"/>
                    <a:pt x="1771388" y="101894"/>
                  </a:cubicBezTo>
                  <a:lnTo>
                    <a:pt x="1771388" y="101894"/>
                  </a:lnTo>
                  <a:cubicBezTo>
                    <a:pt x="1771388" y="158168"/>
                    <a:pt x="1725769" y="203788"/>
                    <a:pt x="1669494" y="203788"/>
                  </a:cubicBezTo>
                  <a:lnTo>
                    <a:pt x="101894" y="203788"/>
                  </a:lnTo>
                  <a:cubicBezTo>
                    <a:pt x="74870" y="203788"/>
                    <a:pt x="48953" y="193053"/>
                    <a:pt x="29844" y="173944"/>
                  </a:cubicBezTo>
                  <a:cubicBezTo>
                    <a:pt x="10735" y="154835"/>
                    <a:pt x="0" y="128918"/>
                    <a:pt x="0" y="101894"/>
                  </a:cubicBezTo>
                  <a:lnTo>
                    <a:pt x="0" y="101894"/>
                  </a:lnTo>
                  <a:cubicBezTo>
                    <a:pt x="0" y="74870"/>
                    <a:pt x="10735" y="48953"/>
                    <a:pt x="29844" y="29844"/>
                  </a:cubicBezTo>
                  <a:cubicBezTo>
                    <a:pt x="48953" y="10735"/>
                    <a:pt x="74870" y="0"/>
                    <a:pt x="101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71388" cy="24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Visibilidad total del estado del negocio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47750" y="5281274"/>
            <a:ext cx="4525777" cy="3977026"/>
          </a:xfrm>
          <a:custGeom>
            <a:avLst/>
            <a:gdLst/>
            <a:ahLst/>
            <a:cxnLst/>
            <a:rect r="r" b="b" t="t" l="l"/>
            <a:pathLst>
              <a:path h="3977026" w="4525777">
                <a:moveTo>
                  <a:pt x="0" y="0"/>
                </a:moveTo>
                <a:lnTo>
                  <a:pt x="4525777" y="0"/>
                </a:lnTo>
                <a:lnTo>
                  <a:pt x="4525777" y="3977026"/>
                </a:lnTo>
                <a:lnTo>
                  <a:pt x="0" y="3977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33061" y="4613723"/>
            <a:ext cx="6584263" cy="5827233"/>
          </a:xfrm>
          <a:custGeom>
            <a:avLst/>
            <a:gdLst/>
            <a:ahLst/>
            <a:cxnLst/>
            <a:rect r="r" b="b" t="t" l="l"/>
            <a:pathLst>
              <a:path h="5827233" w="6584263">
                <a:moveTo>
                  <a:pt x="0" y="0"/>
                </a:moveTo>
                <a:lnTo>
                  <a:pt x="6584263" y="0"/>
                </a:lnTo>
                <a:lnTo>
                  <a:pt x="6584263" y="5827233"/>
                </a:lnTo>
                <a:lnTo>
                  <a:pt x="0" y="5827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470" b="-13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7718068">
            <a:off x="16184453" y="1534510"/>
            <a:ext cx="3313055" cy="33130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7750" y="3113398"/>
            <a:ext cx="4872259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Proyecciones Inteligentes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876798" y="8346770"/>
            <a:ext cx="6725739" cy="944245"/>
            <a:chOff x="0" y="0"/>
            <a:chExt cx="1771388" cy="248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1388" cy="248690"/>
            </a:xfrm>
            <a:custGeom>
              <a:avLst/>
              <a:gdLst/>
              <a:ahLst/>
              <a:cxnLst/>
              <a:rect r="r" b="b" t="t" l="l"/>
              <a:pathLst>
                <a:path h="248690" w="1771388">
                  <a:moveTo>
                    <a:pt x="115109" y="0"/>
                  </a:moveTo>
                  <a:lnTo>
                    <a:pt x="1656279" y="0"/>
                  </a:lnTo>
                  <a:cubicBezTo>
                    <a:pt x="1686808" y="0"/>
                    <a:pt x="1716087" y="12128"/>
                    <a:pt x="1737674" y="33715"/>
                  </a:cubicBezTo>
                  <a:cubicBezTo>
                    <a:pt x="1759261" y="55302"/>
                    <a:pt x="1771388" y="84580"/>
                    <a:pt x="1771388" y="115109"/>
                  </a:cubicBezTo>
                  <a:lnTo>
                    <a:pt x="1771388" y="133581"/>
                  </a:lnTo>
                  <a:cubicBezTo>
                    <a:pt x="1771388" y="164110"/>
                    <a:pt x="1759261" y="193388"/>
                    <a:pt x="1737674" y="214975"/>
                  </a:cubicBezTo>
                  <a:cubicBezTo>
                    <a:pt x="1716087" y="236562"/>
                    <a:pt x="1686808" y="248690"/>
                    <a:pt x="1656279" y="248690"/>
                  </a:cubicBezTo>
                  <a:lnTo>
                    <a:pt x="115109" y="248690"/>
                  </a:lnTo>
                  <a:cubicBezTo>
                    <a:pt x="84580" y="248690"/>
                    <a:pt x="55302" y="236562"/>
                    <a:pt x="33715" y="214975"/>
                  </a:cubicBezTo>
                  <a:cubicBezTo>
                    <a:pt x="12128" y="193388"/>
                    <a:pt x="0" y="164110"/>
                    <a:pt x="0" y="133581"/>
                  </a:cubicBezTo>
                  <a:lnTo>
                    <a:pt x="0" y="115109"/>
                  </a:lnTo>
                  <a:cubicBezTo>
                    <a:pt x="0" y="84580"/>
                    <a:pt x="12128" y="55302"/>
                    <a:pt x="33715" y="33715"/>
                  </a:cubicBezTo>
                  <a:cubicBezTo>
                    <a:pt x="55302" y="12128"/>
                    <a:pt x="84580" y="0"/>
                    <a:pt x="115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1388" cy="286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Anticipación a la demanda futura para evitar pérdidas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9460" y="2517840"/>
            <a:ext cx="3637067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(IA)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948" y="-742419"/>
            <a:ext cx="18763895" cy="4910442"/>
            <a:chOff x="0" y="0"/>
            <a:chExt cx="4941931" cy="1293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1931" cy="1293285"/>
            </a:xfrm>
            <a:custGeom>
              <a:avLst/>
              <a:gdLst/>
              <a:ahLst/>
              <a:cxnLst/>
              <a:rect r="r" b="b" t="t" l="l"/>
              <a:pathLst>
                <a:path h="1293285" w="4941931">
                  <a:moveTo>
                    <a:pt x="8665" y="0"/>
                  </a:moveTo>
                  <a:lnTo>
                    <a:pt x="4933267" y="0"/>
                  </a:lnTo>
                  <a:cubicBezTo>
                    <a:pt x="4935565" y="0"/>
                    <a:pt x="4937769" y="913"/>
                    <a:pt x="4939393" y="2538"/>
                  </a:cubicBezTo>
                  <a:cubicBezTo>
                    <a:pt x="4941019" y="4163"/>
                    <a:pt x="4941931" y="6367"/>
                    <a:pt x="4941931" y="8665"/>
                  </a:cubicBezTo>
                  <a:lnTo>
                    <a:pt x="4941931" y="1284621"/>
                  </a:lnTo>
                  <a:cubicBezTo>
                    <a:pt x="4941931" y="1289406"/>
                    <a:pt x="4938052" y="1293285"/>
                    <a:pt x="4933267" y="1293285"/>
                  </a:cubicBezTo>
                  <a:lnTo>
                    <a:pt x="8665" y="1293285"/>
                  </a:lnTo>
                  <a:cubicBezTo>
                    <a:pt x="3879" y="1293285"/>
                    <a:pt x="0" y="1289406"/>
                    <a:pt x="0" y="1284621"/>
                  </a:cubicBezTo>
                  <a:lnTo>
                    <a:pt x="0" y="8665"/>
                  </a:lnTo>
                  <a:cubicBezTo>
                    <a:pt x="0" y="3879"/>
                    <a:pt x="3879" y="0"/>
                    <a:pt x="86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1931" cy="1331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88454">
            <a:off x="-1113631" y="-401925"/>
            <a:ext cx="9031111" cy="8229600"/>
          </a:xfrm>
          <a:custGeom>
            <a:avLst/>
            <a:gdLst/>
            <a:ahLst/>
            <a:cxnLst/>
            <a:rect r="r" b="b" t="t" l="l"/>
            <a:pathLst>
              <a:path h="8229600" w="9031111">
                <a:moveTo>
                  <a:pt x="9031111" y="0"/>
                </a:moveTo>
                <a:lnTo>
                  <a:pt x="0" y="0"/>
                </a:lnTo>
                <a:lnTo>
                  <a:pt x="0" y="8229600"/>
                </a:lnTo>
                <a:lnTo>
                  <a:pt x="9031111" y="8229600"/>
                </a:lnTo>
                <a:lnTo>
                  <a:pt x="903111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1691">
            <a:off x="-1221921" y="806162"/>
            <a:ext cx="8961257" cy="8524396"/>
          </a:xfrm>
          <a:custGeom>
            <a:avLst/>
            <a:gdLst/>
            <a:ahLst/>
            <a:cxnLst/>
            <a:rect r="r" b="b" t="t" l="l"/>
            <a:pathLst>
              <a:path h="8524396" w="8961257">
                <a:moveTo>
                  <a:pt x="0" y="0"/>
                </a:moveTo>
                <a:lnTo>
                  <a:pt x="8961258" y="0"/>
                </a:lnTo>
                <a:lnTo>
                  <a:pt x="8961258" y="8524396"/>
                </a:lnTo>
                <a:lnTo>
                  <a:pt x="0" y="8524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31629" y="5175521"/>
            <a:ext cx="3954667" cy="625056"/>
            <a:chOff x="0" y="0"/>
            <a:chExt cx="946316" cy="1495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11940" y="5068360"/>
            <a:ext cx="839377" cy="839377"/>
          </a:xfrm>
          <a:custGeom>
            <a:avLst/>
            <a:gdLst/>
            <a:ahLst/>
            <a:cxnLst/>
            <a:rect r="r" b="b" t="t" l="l"/>
            <a:pathLst>
              <a:path h="839377" w="839377">
                <a:moveTo>
                  <a:pt x="0" y="0"/>
                </a:moveTo>
                <a:lnTo>
                  <a:pt x="839378" y="0"/>
                </a:lnTo>
                <a:lnTo>
                  <a:pt x="839378" y="839377"/>
                </a:lnTo>
                <a:lnTo>
                  <a:pt x="0" y="839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383563" y="5175521"/>
            <a:ext cx="4431437" cy="625056"/>
            <a:chOff x="0" y="0"/>
            <a:chExt cx="1060403" cy="1495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403" cy="149570"/>
            </a:xfrm>
            <a:custGeom>
              <a:avLst/>
              <a:gdLst/>
              <a:ahLst/>
              <a:cxnLst/>
              <a:rect r="r" b="b" t="t" l="l"/>
              <a:pathLst>
                <a:path h="149570" w="1060403">
                  <a:moveTo>
                    <a:pt x="40182" y="0"/>
                  </a:moveTo>
                  <a:lnTo>
                    <a:pt x="1020221" y="0"/>
                  </a:lnTo>
                  <a:cubicBezTo>
                    <a:pt x="1042413" y="0"/>
                    <a:pt x="1060403" y="17990"/>
                    <a:pt x="1060403" y="40182"/>
                  </a:cubicBezTo>
                  <a:lnTo>
                    <a:pt x="1060403" y="109388"/>
                  </a:lnTo>
                  <a:cubicBezTo>
                    <a:pt x="1060403" y="131580"/>
                    <a:pt x="1042413" y="149570"/>
                    <a:pt x="1020221" y="149570"/>
                  </a:cubicBezTo>
                  <a:lnTo>
                    <a:pt x="40182" y="149570"/>
                  </a:lnTo>
                  <a:cubicBezTo>
                    <a:pt x="17990" y="149570"/>
                    <a:pt x="0" y="131580"/>
                    <a:pt x="0" y="109388"/>
                  </a:cubicBezTo>
                  <a:lnTo>
                    <a:pt x="0" y="40182"/>
                  </a:lnTo>
                  <a:cubicBezTo>
                    <a:pt x="0" y="17990"/>
                    <a:pt x="17990" y="0"/>
                    <a:pt x="401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0403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137296" y="5146344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8431629" y="7804806"/>
            <a:ext cx="3954667" cy="625056"/>
            <a:chOff x="0" y="0"/>
            <a:chExt cx="946316" cy="1495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3383563" y="7804806"/>
            <a:ext cx="4563724" cy="625056"/>
            <a:chOff x="0" y="0"/>
            <a:chExt cx="1092058" cy="149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2058" cy="149570"/>
            </a:xfrm>
            <a:custGeom>
              <a:avLst/>
              <a:gdLst/>
              <a:ahLst/>
              <a:cxnLst/>
              <a:rect r="r" b="b" t="t" l="l"/>
              <a:pathLst>
                <a:path h="149570" w="1092058">
                  <a:moveTo>
                    <a:pt x="39017" y="0"/>
                  </a:moveTo>
                  <a:lnTo>
                    <a:pt x="1053041" y="0"/>
                  </a:lnTo>
                  <a:cubicBezTo>
                    <a:pt x="1074589" y="0"/>
                    <a:pt x="1092058" y="17469"/>
                    <a:pt x="1092058" y="39017"/>
                  </a:cubicBezTo>
                  <a:lnTo>
                    <a:pt x="1092058" y="110553"/>
                  </a:lnTo>
                  <a:cubicBezTo>
                    <a:pt x="1092058" y="132102"/>
                    <a:pt x="1074589" y="149570"/>
                    <a:pt x="1053041" y="149570"/>
                  </a:cubicBezTo>
                  <a:lnTo>
                    <a:pt x="39017" y="149570"/>
                  </a:lnTo>
                  <a:cubicBezTo>
                    <a:pt x="17469" y="149570"/>
                    <a:pt x="0" y="132102"/>
                    <a:pt x="0" y="110553"/>
                  </a:cubicBezTo>
                  <a:lnTo>
                    <a:pt x="0" y="39017"/>
                  </a:lnTo>
                  <a:cubicBezTo>
                    <a:pt x="0" y="17469"/>
                    <a:pt x="17469" y="0"/>
                    <a:pt x="39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2058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137296" y="7775629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23" r="0" b="-62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63127" y="7508336"/>
            <a:ext cx="839740" cy="921525"/>
          </a:xfrm>
          <a:custGeom>
            <a:avLst/>
            <a:gdLst/>
            <a:ahLst/>
            <a:cxnLst/>
            <a:rect r="r" b="b" t="t" l="l"/>
            <a:pathLst>
              <a:path h="921525" w="839740">
                <a:moveTo>
                  <a:pt x="0" y="0"/>
                </a:moveTo>
                <a:lnTo>
                  <a:pt x="839740" y="0"/>
                </a:lnTo>
                <a:lnTo>
                  <a:pt x="839740" y="921525"/>
                </a:lnTo>
                <a:lnTo>
                  <a:pt x="0" y="921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214187" y="2274017"/>
            <a:ext cx="11403592" cy="9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24"/>
              </a:lnSpc>
            </a:pPr>
            <a:r>
              <a:rPr lang="en-US" b="true" sz="625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¿Por qué elegir Invex?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14187" y="1733344"/>
            <a:ext cx="7179992" cy="53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6"/>
              </a:lnSpc>
            </a:pPr>
            <a:r>
              <a:rPr lang="en-US" sz="3133" spc="501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IMPACTO EN EL NEGOCIO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4054" y="5286129"/>
            <a:ext cx="3178343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Reducción de Costos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1629" y="5922055"/>
            <a:ext cx="4087540" cy="12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1"/>
              </a:lnSpc>
            </a:pP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Disminuye los gastos operativos y </a:t>
            </a:r>
            <a:r>
              <a:rPr lang="en-US" b="true" sz="1870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elimina las pérdidas</a:t>
            </a: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generadas por errores manuales y sobrecarga de bodega.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74444" y="5286129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Optimización de Capital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6508" y="5922055"/>
            <a:ext cx="4257833" cy="13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0"/>
              </a:lnSpc>
              <a:spcBef>
                <a:spcPct val="0"/>
              </a:spcBef>
            </a:pPr>
            <a:r>
              <a:rPr lang="en-US" b="true" sz="1921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Maximiza la rentabilidad</a:t>
            </a:r>
            <a:r>
              <a:rPr lang="en-US" sz="192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de tu inversión, evitando tener dinero "dormido" en productos que no rotan.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54054" y="7915414"/>
            <a:ext cx="3348690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Estratégicas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04739" y="8553686"/>
            <a:ext cx="3781557" cy="128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Pasa de la intuición a la certeza.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Usa datos reales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proyecciones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para planificar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compras inteligentes.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74444" y="7915414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Disponibilidad Asegurada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83695" y="8657319"/>
            <a:ext cx="4031304" cy="9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Garantiza el stock 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 tus productos críticos para no perder ni una sola venta por falta de mercancía.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7697" y="-73417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4506" y="1982832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7718068">
            <a:off x="2199481" y="-2932558"/>
            <a:ext cx="3969460" cy="39694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493672">
            <a:off x="610805" y="212880"/>
            <a:ext cx="835790" cy="8357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534138">
            <a:off x="10444353" y="212880"/>
            <a:ext cx="835790" cy="83579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8944" y="3791533"/>
            <a:ext cx="7030782" cy="3461823"/>
            <a:chOff x="0" y="0"/>
            <a:chExt cx="1792638" cy="8826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2638" cy="882661"/>
            </a:xfrm>
            <a:custGeom>
              <a:avLst/>
              <a:gdLst/>
              <a:ahLst/>
              <a:cxnLst/>
              <a:rect r="r" b="b" t="t" l="l"/>
              <a:pathLst>
                <a:path h="882661" w="1792638">
                  <a:moveTo>
                    <a:pt x="25326" y="0"/>
                  </a:moveTo>
                  <a:lnTo>
                    <a:pt x="1767312" y="0"/>
                  </a:lnTo>
                  <a:cubicBezTo>
                    <a:pt x="1781299" y="0"/>
                    <a:pt x="1792638" y="11339"/>
                    <a:pt x="1792638" y="25326"/>
                  </a:cubicBezTo>
                  <a:lnTo>
                    <a:pt x="1792638" y="857334"/>
                  </a:lnTo>
                  <a:cubicBezTo>
                    <a:pt x="1792638" y="871322"/>
                    <a:pt x="1781299" y="882661"/>
                    <a:pt x="1767312" y="882661"/>
                  </a:cubicBezTo>
                  <a:lnTo>
                    <a:pt x="25326" y="882661"/>
                  </a:lnTo>
                  <a:cubicBezTo>
                    <a:pt x="11339" y="882661"/>
                    <a:pt x="0" y="871322"/>
                    <a:pt x="0" y="857334"/>
                  </a:cubicBezTo>
                  <a:lnTo>
                    <a:pt x="0" y="25326"/>
                  </a:lnTo>
                  <a:cubicBezTo>
                    <a:pt x="0" y="11339"/>
                    <a:pt x="11339" y="0"/>
                    <a:pt x="25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92638" cy="920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4683" y="3479565"/>
            <a:ext cx="3045686" cy="623937"/>
            <a:chOff x="0" y="0"/>
            <a:chExt cx="776558" cy="159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6558" cy="159085"/>
            </a:xfrm>
            <a:custGeom>
              <a:avLst/>
              <a:gdLst/>
              <a:ahLst/>
              <a:cxnLst/>
              <a:rect r="r" b="b" t="t" l="l"/>
              <a:pathLst>
                <a:path h="159085" w="776558">
                  <a:moveTo>
                    <a:pt x="30503" y="0"/>
                  </a:moveTo>
                  <a:lnTo>
                    <a:pt x="746055" y="0"/>
                  </a:lnTo>
                  <a:cubicBezTo>
                    <a:pt x="762902" y="0"/>
                    <a:pt x="776558" y="13657"/>
                    <a:pt x="776558" y="30503"/>
                  </a:cubicBezTo>
                  <a:lnTo>
                    <a:pt x="776558" y="128582"/>
                  </a:lnTo>
                  <a:cubicBezTo>
                    <a:pt x="776558" y="145428"/>
                    <a:pt x="762902" y="159085"/>
                    <a:pt x="746055" y="159085"/>
                  </a:cubicBezTo>
                  <a:lnTo>
                    <a:pt x="30503" y="159085"/>
                  </a:lnTo>
                  <a:cubicBezTo>
                    <a:pt x="13657" y="159085"/>
                    <a:pt x="0" y="145428"/>
                    <a:pt x="0" y="128582"/>
                  </a:cubicBezTo>
                  <a:lnTo>
                    <a:pt x="0" y="30503"/>
                  </a:lnTo>
                  <a:cubicBezTo>
                    <a:pt x="0" y="13657"/>
                    <a:pt x="13657" y="0"/>
                    <a:pt x="30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76558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57463" y="4348273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7463" y="5134943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62386" y="1591975"/>
            <a:ext cx="1296322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Resultados Obtenidos y Obstaculos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62386" y="1091741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CONCLUSION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27044" y="4334873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Sistema Web estable con roles y autenticación segura.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27044" y="4949361"/>
            <a:ext cx="6153720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Importación de inventario exitosa, eliminando la carga manual.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4683" y="3596652"/>
            <a:ext cx="3045686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RESULTADOS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0375" y="3807101"/>
            <a:ext cx="7030782" cy="3461823"/>
            <a:chOff x="0" y="0"/>
            <a:chExt cx="1792638" cy="8826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92638" cy="882661"/>
            </a:xfrm>
            <a:custGeom>
              <a:avLst/>
              <a:gdLst/>
              <a:ahLst/>
              <a:cxnLst/>
              <a:rect r="r" b="b" t="t" l="l"/>
              <a:pathLst>
                <a:path h="882661" w="1792638">
                  <a:moveTo>
                    <a:pt x="25326" y="0"/>
                  </a:moveTo>
                  <a:lnTo>
                    <a:pt x="1767312" y="0"/>
                  </a:lnTo>
                  <a:cubicBezTo>
                    <a:pt x="1781299" y="0"/>
                    <a:pt x="1792638" y="11339"/>
                    <a:pt x="1792638" y="25326"/>
                  </a:cubicBezTo>
                  <a:lnTo>
                    <a:pt x="1792638" y="857334"/>
                  </a:lnTo>
                  <a:cubicBezTo>
                    <a:pt x="1792638" y="871322"/>
                    <a:pt x="1781299" y="882661"/>
                    <a:pt x="1767312" y="882661"/>
                  </a:cubicBezTo>
                  <a:lnTo>
                    <a:pt x="25326" y="882661"/>
                  </a:lnTo>
                  <a:cubicBezTo>
                    <a:pt x="11339" y="882661"/>
                    <a:pt x="0" y="871322"/>
                    <a:pt x="0" y="857334"/>
                  </a:cubicBezTo>
                  <a:lnTo>
                    <a:pt x="0" y="25326"/>
                  </a:lnTo>
                  <a:cubicBezTo>
                    <a:pt x="0" y="11339"/>
                    <a:pt x="11339" y="0"/>
                    <a:pt x="25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92638" cy="920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76115" y="3495133"/>
            <a:ext cx="3045686" cy="623937"/>
            <a:chOff x="0" y="0"/>
            <a:chExt cx="776558" cy="1590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6558" cy="159085"/>
            </a:xfrm>
            <a:custGeom>
              <a:avLst/>
              <a:gdLst/>
              <a:ahLst/>
              <a:cxnLst/>
              <a:rect r="r" b="b" t="t" l="l"/>
              <a:pathLst>
                <a:path h="159085" w="776558">
                  <a:moveTo>
                    <a:pt x="30503" y="0"/>
                  </a:moveTo>
                  <a:lnTo>
                    <a:pt x="746055" y="0"/>
                  </a:lnTo>
                  <a:cubicBezTo>
                    <a:pt x="762902" y="0"/>
                    <a:pt x="776558" y="13657"/>
                    <a:pt x="776558" y="30503"/>
                  </a:cubicBezTo>
                  <a:lnTo>
                    <a:pt x="776558" y="128582"/>
                  </a:lnTo>
                  <a:cubicBezTo>
                    <a:pt x="776558" y="145428"/>
                    <a:pt x="762902" y="159085"/>
                    <a:pt x="746055" y="159085"/>
                  </a:cubicBezTo>
                  <a:lnTo>
                    <a:pt x="30503" y="159085"/>
                  </a:lnTo>
                  <a:cubicBezTo>
                    <a:pt x="13657" y="159085"/>
                    <a:pt x="0" y="145428"/>
                    <a:pt x="0" y="128582"/>
                  </a:cubicBezTo>
                  <a:lnTo>
                    <a:pt x="0" y="30503"/>
                  </a:lnTo>
                  <a:cubicBezTo>
                    <a:pt x="0" y="13657"/>
                    <a:pt x="13657" y="0"/>
                    <a:pt x="30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76558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9530681" y="4509595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2"/>
                </a:lnTo>
                <a:lnTo>
                  <a:pt x="0" y="36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30681" y="5057462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2"/>
                </a:lnTo>
                <a:lnTo>
                  <a:pt x="0" y="36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100262" y="4496194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Versiones de Python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00262" y="5044061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incongruencias en GitHub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00262" y="5591928"/>
            <a:ext cx="6437647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Dificultad en enviar correo con datos del nuevo usuario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76115" y="3612220"/>
            <a:ext cx="3045686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OBSTACULOS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530681" y="5605328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57463" y="5907481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64264" y="5739739"/>
            <a:ext cx="6153720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Dashboard funcional con KPIs y alertas de quiebre en tiempo real.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0604" y="2656332"/>
            <a:ext cx="15448696" cy="415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https://www.canva.com/design/DAG5GYnlGIA/Wmik8SWI1wiSLyiWmlH0cA/edit?utm_content=DAG5GYnlGIA&amp;utm_campaign=designshare&amp;utm_medium=link2&amp;utm_source=sharebutton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DAG5GYnlGIA</dc:identifier>
  <dcterms:modified xsi:type="dcterms:W3CDTF">2011-08-01T06:04:30Z</dcterms:modified>
  <cp:revision>1</cp:revision>
  <dc:title>INVEX</dc:title>
</cp:coreProperties>
</file>