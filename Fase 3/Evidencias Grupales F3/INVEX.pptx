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Inter Bold" charset="1" panose="020B0802030000000004"/>
      <p:regular r:id="rId20"/>
    </p:embeddedFont>
    <p:embeddedFont>
      <p:font typeface="Inter" charset="1" panose="020B05020300000000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png" Type="http://schemas.openxmlformats.org/officeDocument/2006/relationships/image"/><Relationship Id="rId4" Target="../media/image8.png" Type="http://schemas.openxmlformats.org/officeDocument/2006/relationships/image"/><Relationship Id="rId5" Target="../media/image2.png" Type="http://schemas.openxmlformats.org/officeDocument/2006/relationships/image"/><Relationship Id="rId6" Target="../media/image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Relationship Id="rId6" Target="../media/image1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12.png" Type="http://schemas.openxmlformats.org/officeDocument/2006/relationships/image"/><Relationship Id="rId5" Target="../media/image1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1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17.png" Type="http://schemas.openxmlformats.org/officeDocument/2006/relationships/image"/><Relationship Id="rId6" Target="../media/image18.png" Type="http://schemas.openxmlformats.org/officeDocument/2006/relationships/image"/><Relationship Id="rId7" Target="../media/image19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20.png" Type="http://schemas.openxmlformats.org/officeDocument/2006/relationships/image"/><Relationship Id="rId6" Target="../media/image21.png" Type="http://schemas.openxmlformats.org/officeDocument/2006/relationships/image"/><Relationship Id="rId7" Target="../media/image2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20.png" Type="http://schemas.openxmlformats.org/officeDocument/2006/relationships/image"/><Relationship Id="rId6" Target="../media/image23.png" Type="http://schemas.openxmlformats.org/officeDocument/2006/relationships/image"/><Relationship Id="rId7" Target="../media/image24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25.png" Type="http://schemas.openxmlformats.org/officeDocument/2006/relationships/image"/><Relationship Id="rId6" Target="../media/image20.png" Type="http://schemas.openxmlformats.org/officeDocument/2006/relationships/image"/><Relationship Id="rId7" Target="../media/image26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Relationship Id="rId3" Target="../media/image28.png" Type="http://schemas.openxmlformats.org/officeDocument/2006/relationships/image"/><Relationship Id="rId4" Target="../media/image29.png" Type="http://schemas.openxmlformats.org/officeDocument/2006/relationships/image"/><Relationship Id="rId5" Target="../media/image30.png" Type="http://schemas.openxmlformats.org/officeDocument/2006/relationships/image"/><Relationship Id="rId6" Target="../media/image31.png" Type="http://schemas.openxmlformats.org/officeDocument/2006/relationships/image"/><Relationship Id="rId7" Target="../media/image3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33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F8FDFF">
                <a:alpha val="100000"/>
              </a:srgbClr>
            </a:gs>
            <a:gs pos="100000">
              <a:srgbClr val="EFFAFF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84135" y="31425"/>
            <a:ext cx="11371652" cy="10454460"/>
          </a:xfrm>
          <a:custGeom>
            <a:avLst/>
            <a:gdLst/>
            <a:ahLst/>
            <a:cxnLst/>
            <a:rect r="r" b="b" t="t" l="l"/>
            <a:pathLst>
              <a:path h="10454460" w="11371652">
                <a:moveTo>
                  <a:pt x="0" y="0"/>
                </a:moveTo>
                <a:lnTo>
                  <a:pt x="11371652" y="0"/>
                </a:lnTo>
                <a:lnTo>
                  <a:pt x="11371652" y="10454460"/>
                </a:lnTo>
                <a:lnTo>
                  <a:pt x="0" y="104544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760" t="0" r="-276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361607" y="3480939"/>
            <a:ext cx="15451819" cy="3569103"/>
            <a:chOff x="0" y="0"/>
            <a:chExt cx="4069615" cy="9400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069615" cy="940011"/>
            </a:xfrm>
            <a:custGeom>
              <a:avLst/>
              <a:gdLst/>
              <a:ahLst/>
              <a:cxnLst/>
              <a:rect r="r" b="b" t="t" l="l"/>
              <a:pathLst>
                <a:path h="940011" w="4069615">
                  <a:moveTo>
                    <a:pt x="10522" y="0"/>
                  </a:moveTo>
                  <a:lnTo>
                    <a:pt x="4059093" y="0"/>
                  </a:lnTo>
                  <a:cubicBezTo>
                    <a:pt x="4064904" y="0"/>
                    <a:pt x="4069615" y="4711"/>
                    <a:pt x="4069615" y="10522"/>
                  </a:cubicBezTo>
                  <a:lnTo>
                    <a:pt x="4069615" y="929489"/>
                  </a:lnTo>
                  <a:cubicBezTo>
                    <a:pt x="4069615" y="935300"/>
                    <a:pt x="4064904" y="940011"/>
                    <a:pt x="4059093" y="940011"/>
                  </a:cubicBezTo>
                  <a:lnTo>
                    <a:pt x="10522" y="940011"/>
                  </a:lnTo>
                  <a:cubicBezTo>
                    <a:pt x="4711" y="940011"/>
                    <a:pt x="0" y="935300"/>
                    <a:pt x="0" y="929489"/>
                  </a:cubicBezTo>
                  <a:lnTo>
                    <a:pt x="0" y="10522"/>
                  </a:lnTo>
                  <a:cubicBezTo>
                    <a:pt x="0" y="4711"/>
                    <a:pt x="4711" y="0"/>
                    <a:pt x="10522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069615" cy="9781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394291" y="6599149"/>
            <a:ext cx="7434120" cy="1039585"/>
            <a:chOff x="0" y="0"/>
            <a:chExt cx="1957957" cy="273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957957" cy="273800"/>
            </a:xfrm>
            <a:custGeom>
              <a:avLst/>
              <a:gdLst/>
              <a:ahLst/>
              <a:cxnLst/>
              <a:rect r="r" b="b" t="t" l="l"/>
              <a:pathLst>
                <a:path h="273800" w="1957957">
                  <a:moveTo>
                    <a:pt x="21869" y="0"/>
                  </a:moveTo>
                  <a:lnTo>
                    <a:pt x="1936088" y="0"/>
                  </a:lnTo>
                  <a:cubicBezTo>
                    <a:pt x="1948166" y="0"/>
                    <a:pt x="1957957" y="9791"/>
                    <a:pt x="1957957" y="21869"/>
                  </a:cubicBezTo>
                  <a:lnTo>
                    <a:pt x="1957957" y="251931"/>
                  </a:lnTo>
                  <a:cubicBezTo>
                    <a:pt x="1957957" y="264009"/>
                    <a:pt x="1948166" y="273800"/>
                    <a:pt x="1936088" y="273800"/>
                  </a:cubicBezTo>
                  <a:lnTo>
                    <a:pt x="21869" y="273800"/>
                  </a:lnTo>
                  <a:cubicBezTo>
                    <a:pt x="9791" y="273800"/>
                    <a:pt x="0" y="264009"/>
                    <a:pt x="0" y="251931"/>
                  </a:cubicBezTo>
                  <a:lnTo>
                    <a:pt x="0" y="21869"/>
                  </a:lnTo>
                  <a:cubicBezTo>
                    <a:pt x="0" y="9791"/>
                    <a:pt x="9791" y="0"/>
                    <a:pt x="2186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7C61D">
                    <a:alpha val="100000"/>
                  </a:srgbClr>
                </a:gs>
                <a:gs pos="50000">
                  <a:srgbClr val="CEA20B">
                    <a:alpha val="100000"/>
                  </a:srgbClr>
                </a:gs>
                <a:gs pos="100000">
                  <a:srgbClr val="D39505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9525"/>
              <a:ext cx="1957957" cy="264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46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5103833" y="404707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69"/>
                </a:lnTo>
                <a:lnTo>
                  <a:pt x="0" y="2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3465406" y="8030715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70"/>
                </a:lnTo>
                <a:lnTo>
                  <a:pt x="0" y="24551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-84933">
            <a:off x="11325215" y="1819332"/>
            <a:ext cx="1028004" cy="1028004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-5662074">
            <a:off x="5819525" y="9196894"/>
            <a:ext cx="2180212" cy="2180212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3143913">
            <a:off x="206036" y="8701691"/>
            <a:ext cx="1314926" cy="1314926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9" id="19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-7718068">
            <a:off x="14035606" y="-1298960"/>
            <a:ext cx="3927080" cy="3927080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22" id="2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-80524" y="31425"/>
            <a:ext cx="9224524" cy="10454460"/>
          </a:xfrm>
          <a:custGeom>
            <a:avLst/>
            <a:gdLst/>
            <a:ahLst/>
            <a:cxnLst/>
            <a:rect r="r" b="b" t="t" l="l"/>
            <a:pathLst>
              <a:path h="10454460" w="9224524">
                <a:moveTo>
                  <a:pt x="0" y="0"/>
                </a:moveTo>
                <a:lnTo>
                  <a:pt x="9224524" y="0"/>
                </a:lnTo>
                <a:lnTo>
                  <a:pt x="9224524" y="10454460"/>
                </a:lnTo>
                <a:lnTo>
                  <a:pt x="0" y="1045446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6475436" y="4425004"/>
            <a:ext cx="10201546" cy="840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6552"/>
              </a:lnSpc>
            </a:pPr>
            <a:r>
              <a:rPr lang="en-US" b="true" sz="560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PROYECTO INVEX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405257" y="5338824"/>
            <a:ext cx="6423154" cy="14813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923"/>
              </a:lnSpc>
            </a:pPr>
            <a:r>
              <a:rPr lang="en-US" sz="2802" spc="4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</a:p>
          <a:p>
            <a:pPr algn="r">
              <a:lnSpc>
                <a:spcPts val="3923"/>
              </a:lnSpc>
            </a:pPr>
          </a:p>
        </p:txBody>
      </p:sp>
      <p:sp>
        <p:nvSpPr>
          <p:cNvPr name="TextBox 26" id="26"/>
          <p:cNvSpPr txBox="true"/>
          <p:nvPr/>
        </p:nvSpPr>
        <p:spPr>
          <a:xfrm rot="0">
            <a:off x="9533391" y="6824712"/>
            <a:ext cx="3045605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  <a:spcBef>
                <a:spcPct val="0"/>
              </a:spcBef>
            </a:pPr>
            <a:r>
              <a:rPr lang="en-US" b="true" sz="1899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iNTEGRANTES: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1431762" y="6800582"/>
            <a:ext cx="4995240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59"/>
              </a:lnSpc>
            </a:pPr>
            <a:r>
              <a:rPr lang="en-US" b="true" sz="1899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ARACELI HUENANTE, CATALINA HERRERA Y ANDERSON TINEO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F8FDFF">
                <a:alpha val="100000"/>
              </a:srgbClr>
            </a:gs>
            <a:gs pos="100000">
              <a:srgbClr val="EFFAFF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408297" y="3253066"/>
            <a:ext cx="7467621" cy="7467621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148925" y="2246402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70"/>
                </a:lnTo>
                <a:lnTo>
                  <a:pt x="0" y="24551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-84933">
            <a:off x="13829072" y="1514530"/>
            <a:ext cx="1463744" cy="1463744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-84933">
            <a:off x="5047621" y="1984463"/>
            <a:ext cx="622170" cy="622170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-221148" y="8802600"/>
            <a:ext cx="2046862" cy="1831941"/>
          </a:xfrm>
          <a:custGeom>
            <a:avLst/>
            <a:gdLst/>
            <a:ahLst/>
            <a:cxnLst/>
            <a:rect r="r" b="b" t="t" l="l"/>
            <a:pathLst>
              <a:path h="1831941" w="2046862">
                <a:moveTo>
                  <a:pt x="0" y="0"/>
                </a:moveTo>
                <a:lnTo>
                  <a:pt x="2046862" y="0"/>
                </a:lnTo>
                <a:lnTo>
                  <a:pt x="2046862" y="1831942"/>
                </a:lnTo>
                <a:lnTo>
                  <a:pt x="0" y="18319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-84933">
            <a:off x="-783175" y="8701542"/>
            <a:ext cx="1566350" cy="1566350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5" id="1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-7718068">
            <a:off x="6189835" y="-686890"/>
            <a:ext cx="2527551" cy="2527551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-2590088">
            <a:off x="16959205" y="3202636"/>
            <a:ext cx="998837" cy="998837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-254411" y="9737615"/>
            <a:ext cx="19273043" cy="1479770"/>
            <a:chOff x="0" y="0"/>
            <a:chExt cx="5076028" cy="38973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076028" cy="389734"/>
            </a:xfrm>
            <a:custGeom>
              <a:avLst/>
              <a:gdLst/>
              <a:ahLst/>
              <a:cxnLst/>
              <a:rect r="r" b="b" t="t" l="l"/>
              <a:pathLst>
                <a:path h="389734" w="5076028">
                  <a:moveTo>
                    <a:pt x="8436" y="0"/>
                  </a:moveTo>
                  <a:lnTo>
                    <a:pt x="5067592" y="0"/>
                  </a:lnTo>
                  <a:cubicBezTo>
                    <a:pt x="5072251" y="0"/>
                    <a:pt x="5076028" y="3777"/>
                    <a:pt x="5076028" y="8436"/>
                  </a:cubicBezTo>
                  <a:lnTo>
                    <a:pt x="5076028" y="381298"/>
                  </a:lnTo>
                  <a:cubicBezTo>
                    <a:pt x="5076028" y="383535"/>
                    <a:pt x="5075139" y="385681"/>
                    <a:pt x="5073557" y="387263"/>
                  </a:cubicBezTo>
                  <a:cubicBezTo>
                    <a:pt x="5071975" y="388845"/>
                    <a:pt x="5069829" y="389734"/>
                    <a:pt x="5067592" y="389734"/>
                  </a:cubicBezTo>
                  <a:lnTo>
                    <a:pt x="8436" y="389734"/>
                  </a:lnTo>
                  <a:cubicBezTo>
                    <a:pt x="3777" y="389734"/>
                    <a:pt x="0" y="385957"/>
                    <a:pt x="0" y="381298"/>
                  </a:cubicBezTo>
                  <a:lnTo>
                    <a:pt x="0" y="8436"/>
                  </a:lnTo>
                  <a:cubicBezTo>
                    <a:pt x="0" y="3777"/>
                    <a:pt x="3777" y="0"/>
                    <a:pt x="843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5076028" cy="4278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1028700" y="-583674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69"/>
                </a:lnTo>
                <a:lnTo>
                  <a:pt x="0" y="2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5198899" y="1028700"/>
            <a:ext cx="15758674" cy="9080936"/>
          </a:xfrm>
          <a:custGeom>
            <a:avLst/>
            <a:gdLst/>
            <a:ahLst/>
            <a:cxnLst/>
            <a:rect r="r" b="b" t="t" l="l"/>
            <a:pathLst>
              <a:path h="9080936" w="15758674">
                <a:moveTo>
                  <a:pt x="0" y="0"/>
                </a:moveTo>
                <a:lnTo>
                  <a:pt x="15758674" y="0"/>
                </a:lnTo>
                <a:lnTo>
                  <a:pt x="15758674" y="9080936"/>
                </a:lnTo>
                <a:lnTo>
                  <a:pt x="0" y="90809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27" id="27"/>
          <p:cNvSpPr txBox="true"/>
          <p:nvPr/>
        </p:nvSpPr>
        <p:spPr>
          <a:xfrm rot="0">
            <a:off x="1318981" y="3047782"/>
            <a:ext cx="10201546" cy="840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52"/>
              </a:lnSpc>
            </a:pPr>
            <a:r>
              <a:rPr lang="en-US" sz="5600" b="true">
                <a:solidFill>
                  <a:srgbClr val="193682"/>
                </a:solidFill>
                <a:latin typeface="Inter Bold"/>
                <a:ea typeface="Inter Bold"/>
                <a:cs typeface="Inter Bold"/>
                <a:sym typeface="Inter Bold"/>
              </a:rPr>
              <a:t>Definición del Proyecto 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318981" y="2547548"/>
            <a:ext cx="6423154" cy="490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3"/>
              </a:lnSpc>
            </a:pPr>
            <a:r>
              <a:rPr lang="en-US" sz="2802" spc="448">
                <a:solidFill>
                  <a:srgbClr val="C68817"/>
                </a:solidFill>
                <a:latin typeface="Inter"/>
                <a:ea typeface="Inter"/>
                <a:cs typeface="Inter"/>
                <a:sym typeface="Inter"/>
              </a:rPr>
              <a:t>INTRODUCCIÓN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18981" y="4625703"/>
            <a:ext cx="8604642" cy="23251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0"/>
              </a:lnSpc>
              <a:spcBef>
                <a:spcPct val="0"/>
              </a:spcBef>
            </a:pPr>
            <a:r>
              <a:rPr lang="en-US" sz="2207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Invex es una plataforma web diseñada para Pymes que </a:t>
            </a:r>
            <a:r>
              <a:rPr lang="en-US" b="true" sz="2207">
                <a:solidFill>
                  <a:srgbClr val="193682"/>
                </a:solidFill>
                <a:latin typeface="Inter Bold"/>
                <a:ea typeface="Inter Bold"/>
                <a:cs typeface="Inter Bold"/>
                <a:sym typeface="Inter Bold"/>
              </a:rPr>
              <a:t>centraliza la gestión de inventario </a:t>
            </a:r>
            <a:r>
              <a:rPr lang="en-US" sz="2207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y</a:t>
            </a:r>
            <a:r>
              <a:rPr lang="en-US" b="true" sz="2207">
                <a:solidFill>
                  <a:srgbClr val="193682"/>
                </a:solidFill>
                <a:latin typeface="Inter Bold"/>
                <a:ea typeface="Inter Bold"/>
                <a:cs typeface="Inter Bold"/>
                <a:sym typeface="Inter Bold"/>
              </a:rPr>
              <a:t> utiliza Inteligencia Artificial para predecir la demanda</a:t>
            </a:r>
            <a:r>
              <a:rPr lang="en-US" sz="2207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. Nuestra línea de desarrollo se enfoca en transformar el stock de un </a:t>
            </a:r>
            <a:r>
              <a:rPr lang="en-US" b="true" sz="2207">
                <a:solidFill>
                  <a:srgbClr val="C53441"/>
                </a:solidFill>
                <a:latin typeface="Inter Bold"/>
                <a:ea typeface="Inter Bold"/>
                <a:cs typeface="Inter Bold"/>
                <a:sym typeface="Inter Bold"/>
              </a:rPr>
              <a:t>costo operativo</a:t>
            </a:r>
            <a:r>
              <a:rPr lang="en-US" sz="2207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b="true" sz="2207">
                <a:solidFill>
                  <a:srgbClr val="2A8513"/>
                </a:solidFill>
                <a:latin typeface="Inter Bold"/>
                <a:ea typeface="Inter Bold"/>
                <a:cs typeface="Inter Bold"/>
                <a:sym typeface="Inter Bold"/>
              </a:rPr>
              <a:t>a un activo de inversión</a:t>
            </a:r>
            <a:r>
              <a:rPr lang="en-US" sz="2207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, solucionando la falta de digitalización mediante una arquitectura web moderna y escalable.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F8FDFF">
                <a:alpha val="100000"/>
              </a:srgbClr>
            </a:gs>
            <a:gs pos="100000">
              <a:srgbClr val="EFFAFF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6493672">
            <a:off x="11363943" y="-4178353"/>
            <a:ext cx="11790714" cy="11790714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383803" y="382153"/>
            <a:ext cx="8415086" cy="8383529"/>
          </a:xfrm>
          <a:custGeom>
            <a:avLst/>
            <a:gdLst/>
            <a:ahLst/>
            <a:cxnLst/>
            <a:rect r="r" b="b" t="t" l="l"/>
            <a:pathLst>
              <a:path h="8383529" w="8415086">
                <a:moveTo>
                  <a:pt x="0" y="0"/>
                </a:moveTo>
                <a:lnTo>
                  <a:pt x="8415086" y="0"/>
                </a:lnTo>
                <a:lnTo>
                  <a:pt x="8415086" y="8383530"/>
                </a:lnTo>
                <a:lnTo>
                  <a:pt x="0" y="83835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41504" y="3154815"/>
            <a:ext cx="4715226" cy="617606"/>
            <a:chOff x="0" y="0"/>
            <a:chExt cx="1147770" cy="15033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47770" cy="150336"/>
            </a:xfrm>
            <a:custGeom>
              <a:avLst/>
              <a:gdLst/>
              <a:ahLst/>
              <a:cxnLst/>
              <a:rect r="r" b="b" t="t" l="l"/>
              <a:pathLst>
                <a:path h="150336" w="1147770">
                  <a:moveTo>
                    <a:pt x="37764" y="0"/>
                  </a:moveTo>
                  <a:lnTo>
                    <a:pt x="1110007" y="0"/>
                  </a:lnTo>
                  <a:cubicBezTo>
                    <a:pt x="1120022" y="0"/>
                    <a:pt x="1129627" y="3979"/>
                    <a:pt x="1136709" y="11061"/>
                  </a:cubicBezTo>
                  <a:cubicBezTo>
                    <a:pt x="1143792" y="18143"/>
                    <a:pt x="1147770" y="27748"/>
                    <a:pt x="1147770" y="37764"/>
                  </a:cubicBezTo>
                  <a:lnTo>
                    <a:pt x="1147770" y="112573"/>
                  </a:lnTo>
                  <a:cubicBezTo>
                    <a:pt x="1147770" y="122588"/>
                    <a:pt x="1143792" y="132194"/>
                    <a:pt x="1136709" y="139276"/>
                  </a:cubicBezTo>
                  <a:cubicBezTo>
                    <a:pt x="1129627" y="146358"/>
                    <a:pt x="1120022" y="150336"/>
                    <a:pt x="1110007" y="150336"/>
                  </a:cubicBezTo>
                  <a:lnTo>
                    <a:pt x="37764" y="150336"/>
                  </a:lnTo>
                  <a:cubicBezTo>
                    <a:pt x="27748" y="150336"/>
                    <a:pt x="18143" y="146358"/>
                    <a:pt x="11061" y="139276"/>
                  </a:cubicBezTo>
                  <a:cubicBezTo>
                    <a:pt x="3979" y="132194"/>
                    <a:pt x="0" y="122588"/>
                    <a:pt x="0" y="112573"/>
                  </a:cubicBezTo>
                  <a:lnTo>
                    <a:pt x="0" y="37764"/>
                  </a:lnTo>
                  <a:cubicBezTo>
                    <a:pt x="0" y="27748"/>
                    <a:pt x="3979" y="18143"/>
                    <a:pt x="11061" y="11061"/>
                  </a:cubicBezTo>
                  <a:cubicBezTo>
                    <a:pt x="18143" y="3979"/>
                    <a:pt x="27748" y="0"/>
                    <a:pt x="3776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E88B7B">
                    <a:alpha val="100000"/>
                  </a:srgbClr>
                </a:gs>
                <a:gs pos="50000">
                  <a:srgbClr val="E26655">
                    <a:alpha val="100000"/>
                  </a:srgbClr>
                </a:gs>
                <a:gs pos="100000">
                  <a:srgbClr val="B44433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147770" cy="1884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485690" y="2959300"/>
            <a:ext cx="825503" cy="813121"/>
          </a:xfrm>
          <a:custGeom>
            <a:avLst/>
            <a:gdLst/>
            <a:ahLst/>
            <a:cxnLst/>
            <a:rect r="r" b="b" t="t" l="l"/>
            <a:pathLst>
              <a:path h="813121" w="825503">
                <a:moveTo>
                  <a:pt x="0" y="0"/>
                </a:moveTo>
                <a:lnTo>
                  <a:pt x="825504" y="0"/>
                </a:lnTo>
                <a:lnTo>
                  <a:pt x="825504" y="813121"/>
                </a:lnTo>
                <a:lnTo>
                  <a:pt x="0" y="8131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5842047" y="3120415"/>
            <a:ext cx="4788497" cy="610725"/>
            <a:chOff x="0" y="0"/>
            <a:chExt cx="1178738" cy="1503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178738" cy="150336"/>
            </a:xfrm>
            <a:custGeom>
              <a:avLst/>
              <a:gdLst/>
              <a:ahLst/>
              <a:cxnLst/>
              <a:rect r="r" b="b" t="t" l="l"/>
              <a:pathLst>
                <a:path h="150336" w="1178738">
                  <a:moveTo>
                    <a:pt x="37186" y="0"/>
                  </a:moveTo>
                  <a:lnTo>
                    <a:pt x="1141552" y="0"/>
                  </a:lnTo>
                  <a:cubicBezTo>
                    <a:pt x="1162089" y="0"/>
                    <a:pt x="1178738" y="16649"/>
                    <a:pt x="1178738" y="37186"/>
                  </a:cubicBezTo>
                  <a:lnTo>
                    <a:pt x="1178738" y="113150"/>
                  </a:lnTo>
                  <a:cubicBezTo>
                    <a:pt x="1178738" y="133688"/>
                    <a:pt x="1162089" y="150336"/>
                    <a:pt x="1141552" y="150336"/>
                  </a:cubicBezTo>
                  <a:lnTo>
                    <a:pt x="37186" y="150336"/>
                  </a:lnTo>
                  <a:cubicBezTo>
                    <a:pt x="27324" y="150336"/>
                    <a:pt x="17865" y="146419"/>
                    <a:pt x="10891" y="139445"/>
                  </a:cubicBezTo>
                  <a:cubicBezTo>
                    <a:pt x="3918" y="132471"/>
                    <a:pt x="0" y="123013"/>
                    <a:pt x="0" y="113150"/>
                  </a:cubicBezTo>
                  <a:lnTo>
                    <a:pt x="0" y="37186"/>
                  </a:lnTo>
                  <a:cubicBezTo>
                    <a:pt x="0" y="27324"/>
                    <a:pt x="3918" y="17865"/>
                    <a:pt x="10891" y="10891"/>
                  </a:cubicBezTo>
                  <a:cubicBezTo>
                    <a:pt x="17865" y="3918"/>
                    <a:pt x="27324" y="0"/>
                    <a:pt x="3718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501E">
                    <a:alpha val="100000"/>
                  </a:srgbClr>
                </a:gs>
                <a:gs pos="100000">
                  <a:srgbClr val="6CA62C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178738" cy="1884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6069781" y="3007043"/>
            <a:ext cx="1204106" cy="833843"/>
          </a:xfrm>
          <a:custGeom>
            <a:avLst/>
            <a:gdLst/>
            <a:ahLst/>
            <a:cxnLst/>
            <a:rect r="r" b="b" t="t" l="l"/>
            <a:pathLst>
              <a:path h="833843" w="1204106">
                <a:moveTo>
                  <a:pt x="0" y="0"/>
                </a:moveTo>
                <a:lnTo>
                  <a:pt x="1204106" y="0"/>
                </a:lnTo>
                <a:lnTo>
                  <a:pt x="1204106" y="833843"/>
                </a:lnTo>
                <a:lnTo>
                  <a:pt x="0" y="8338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028700" y="1938509"/>
            <a:ext cx="10807258" cy="840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552"/>
              </a:lnSpc>
            </a:pPr>
            <a:r>
              <a:rPr lang="en-US" b="true" sz="5600">
                <a:solidFill>
                  <a:srgbClr val="193682"/>
                </a:solidFill>
                <a:latin typeface="Inter Bold"/>
                <a:ea typeface="Inter Bold"/>
                <a:cs typeface="Inter Bold"/>
                <a:sym typeface="Inter Bold"/>
              </a:rPr>
              <a:t>PROBLEMÁTICA Y SOLUCIÓN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28700" y="1438275"/>
            <a:ext cx="6423154" cy="490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23"/>
              </a:lnSpc>
            </a:pPr>
            <a:r>
              <a:rPr lang="en-US" sz="2802" spc="448">
                <a:solidFill>
                  <a:srgbClr val="C68817"/>
                </a:solidFill>
                <a:latin typeface="Inter"/>
                <a:ea typeface="Inter"/>
                <a:cs typeface="Inter"/>
                <a:sym typeface="Inter"/>
              </a:rPr>
              <a:t>INTRODUCCIÓN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14716" y="3187587"/>
            <a:ext cx="3765217" cy="4192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32"/>
              </a:lnSpc>
              <a:spcBef>
                <a:spcPct val="0"/>
              </a:spcBef>
            </a:pPr>
            <a:r>
              <a:rPr lang="en-US" b="true" sz="238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PROBLEMÁTICA 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355732" y="3199129"/>
            <a:ext cx="3723271" cy="405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5"/>
              </a:lnSpc>
              <a:spcBef>
                <a:spcPct val="0"/>
              </a:spcBef>
            </a:pPr>
            <a:r>
              <a:rPr lang="en-US" b="true" sz="2353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SOLUCIÓN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8707400" y="9357206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70"/>
                </a:lnTo>
                <a:lnTo>
                  <a:pt x="0" y="245517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7335797" y="-1426469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69"/>
                </a:lnTo>
                <a:lnTo>
                  <a:pt x="0" y="2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-7718068">
            <a:off x="16838435" y="8936341"/>
            <a:ext cx="841730" cy="841730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22" id="2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193310" y="4398341"/>
            <a:ext cx="4027738" cy="1247100"/>
            <a:chOff x="0" y="0"/>
            <a:chExt cx="1060804" cy="32845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60804" cy="328454"/>
            </a:xfrm>
            <a:custGeom>
              <a:avLst/>
              <a:gdLst/>
              <a:ahLst/>
              <a:cxnLst/>
              <a:rect r="r" b="b" t="t" l="l"/>
              <a:pathLst>
                <a:path h="328454" w="1060804">
                  <a:moveTo>
                    <a:pt x="44209" y="0"/>
                  </a:moveTo>
                  <a:lnTo>
                    <a:pt x="1016594" y="0"/>
                  </a:lnTo>
                  <a:cubicBezTo>
                    <a:pt x="1041010" y="0"/>
                    <a:pt x="1060804" y="19793"/>
                    <a:pt x="1060804" y="44209"/>
                  </a:cubicBezTo>
                  <a:lnTo>
                    <a:pt x="1060804" y="284245"/>
                  </a:lnTo>
                  <a:cubicBezTo>
                    <a:pt x="1060804" y="308661"/>
                    <a:pt x="1041010" y="328454"/>
                    <a:pt x="1016594" y="328454"/>
                  </a:cubicBezTo>
                  <a:lnTo>
                    <a:pt x="44209" y="328454"/>
                  </a:lnTo>
                  <a:cubicBezTo>
                    <a:pt x="19793" y="328454"/>
                    <a:pt x="0" y="308661"/>
                    <a:pt x="0" y="284245"/>
                  </a:cubicBezTo>
                  <a:lnTo>
                    <a:pt x="0" y="44209"/>
                  </a:lnTo>
                  <a:cubicBezTo>
                    <a:pt x="0" y="19793"/>
                    <a:pt x="19793" y="0"/>
                    <a:pt x="4420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50000">
                  <a:srgbClr val="F9FDFF">
                    <a:alpha val="100000"/>
                  </a:srgbClr>
                </a:gs>
                <a:gs pos="100000">
                  <a:srgbClr val="E1F2FA">
                    <a:alpha val="100000"/>
                  </a:srgbClr>
                </a:gs>
              </a:gsLst>
              <a:lin ang="2700000"/>
            </a:gradFill>
            <a:ln w="38100" cap="rnd">
              <a:gradFill>
                <a:gsLst>
                  <a:gs pos="0">
                    <a:srgbClr val="00501E">
                      <a:alpha val="100000"/>
                    </a:srgbClr>
                  </a:gs>
                  <a:gs pos="100000">
                    <a:srgbClr val="6CA62C">
                      <a:alpha val="10000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060804" cy="3665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5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6540522" y="4699157"/>
            <a:ext cx="3479917" cy="585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0"/>
              </a:lnSpc>
              <a:spcBef>
                <a:spcPct val="0"/>
              </a:spcBef>
            </a:pPr>
            <a:r>
              <a:rPr lang="en-US" sz="1700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Plataforma web con carga masiva y control total.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6540522" y="4004524"/>
            <a:ext cx="3410216" cy="570808"/>
            <a:chOff x="0" y="0"/>
            <a:chExt cx="898164" cy="15033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98164" cy="150336"/>
            </a:xfrm>
            <a:custGeom>
              <a:avLst/>
              <a:gdLst/>
              <a:ahLst/>
              <a:cxnLst/>
              <a:rect r="r" b="b" t="t" l="l"/>
              <a:pathLst>
                <a:path h="150336" w="898164">
                  <a:moveTo>
                    <a:pt x="52215" y="0"/>
                  </a:moveTo>
                  <a:lnTo>
                    <a:pt x="845949" y="0"/>
                  </a:lnTo>
                  <a:cubicBezTo>
                    <a:pt x="859797" y="0"/>
                    <a:pt x="873078" y="5501"/>
                    <a:pt x="882870" y="15293"/>
                  </a:cubicBezTo>
                  <a:cubicBezTo>
                    <a:pt x="892663" y="25086"/>
                    <a:pt x="898164" y="38367"/>
                    <a:pt x="898164" y="52215"/>
                  </a:cubicBezTo>
                  <a:lnTo>
                    <a:pt x="898164" y="98121"/>
                  </a:lnTo>
                  <a:cubicBezTo>
                    <a:pt x="898164" y="111970"/>
                    <a:pt x="892663" y="125251"/>
                    <a:pt x="882870" y="135043"/>
                  </a:cubicBezTo>
                  <a:cubicBezTo>
                    <a:pt x="873078" y="144835"/>
                    <a:pt x="859797" y="150336"/>
                    <a:pt x="845949" y="150336"/>
                  </a:cubicBezTo>
                  <a:lnTo>
                    <a:pt x="52215" y="150336"/>
                  </a:lnTo>
                  <a:cubicBezTo>
                    <a:pt x="38367" y="150336"/>
                    <a:pt x="25086" y="144835"/>
                    <a:pt x="15293" y="135043"/>
                  </a:cubicBezTo>
                  <a:cubicBezTo>
                    <a:pt x="5501" y="125251"/>
                    <a:pt x="0" y="111970"/>
                    <a:pt x="0" y="98121"/>
                  </a:cubicBezTo>
                  <a:lnTo>
                    <a:pt x="0" y="52215"/>
                  </a:lnTo>
                  <a:cubicBezTo>
                    <a:pt x="0" y="38367"/>
                    <a:pt x="5501" y="25086"/>
                    <a:pt x="15293" y="15293"/>
                  </a:cubicBezTo>
                  <a:cubicBezTo>
                    <a:pt x="25086" y="5501"/>
                    <a:pt x="38367" y="0"/>
                    <a:pt x="52215" y="0"/>
                  </a:cubicBezTo>
                  <a:close/>
                </a:path>
              </a:pathLst>
            </a:custGeom>
            <a:solidFill>
              <a:srgbClr val="2A8513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898164" cy="1884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6557994" y="4085919"/>
            <a:ext cx="3479917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Gestión Centralizada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6222427" y="6371697"/>
            <a:ext cx="4027738" cy="1247100"/>
            <a:chOff x="0" y="0"/>
            <a:chExt cx="1060804" cy="32845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60804" cy="328454"/>
            </a:xfrm>
            <a:custGeom>
              <a:avLst/>
              <a:gdLst/>
              <a:ahLst/>
              <a:cxnLst/>
              <a:rect r="r" b="b" t="t" l="l"/>
              <a:pathLst>
                <a:path h="328454" w="1060804">
                  <a:moveTo>
                    <a:pt x="44209" y="0"/>
                  </a:moveTo>
                  <a:lnTo>
                    <a:pt x="1016594" y="0"/>
                  </a:lnTo>
                  <a:cubicBezTo>
                    <a:pt x="1041010" y="0"/>
                    <a:pt x="1060804" y="19793"/>
                    <a:pt x="1060804" y="44209"/>
                  </a:cubicBezTo>
                  <a:lnTo>
                    <a:pt x="1060804" y="284245"/>
                  </a:lnTo>
                  <a:cubicBezTo>
                    <a:pt x="1060804" y="308661"/>
                    <a:pt x="1041010" y="328454"/>
                    <a:pt x="1016594" y="328454"/>
                  </a:cubicBezTo>
                  <a:lnTo>
                    <a:pt x="44209" y="328454"/>
                  </a:lnTo>
                  <a:cubicBezTo>
                    <a:pt x="19793" y="328454"/>
                    <a:pt x="0" y="308661"/>
                    <a:pt x="0" y="284245"/>
                  </a:cubicBezTo>
                  <a:lnTo>
                    <a:pt x="0" y="44209"/>
                  </a:lnTo>
                  <a:cubicBezTo>
                    <a:pt x="0" y="19793"/>
                    <a:pt x="19793" y="0"/>
                    <a:pt x="4420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50000">
                  <a:srgbClr val="F9FDFF">
                    <a:alpha val="100000"/>
                  </a:srgbClr>
                </a:gs>
                <a:gs pos="100000">
                  <a:srgbClr val="E1F2FA">
                    <a:alpha val="100000"/>
                  </a:srgbClr>
                </a:gs>
              </a:gsLst>
              <a:lin ang="2700000"/>
            </a:gradFill>
            <a:ln w="38100" cap="rnd">
              <a:gradFill>
                <a:gsLst>
                  <a:gs pos="0">
                    <a:srgbClr val="00501E">
                      <a:alpha val="100000"/>
                    </a:srgbClr>
                  </a:gs>
                  <a:gs pos="100000">
                    <a:srgbClr val="6CA62C">
                      <a:alpha val="10000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1060804" cy="3665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59"/>
                </a:lnSpc>
              </a:pP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6569639" y="6672513"/>
            <a:ext cx="3479917" cy="585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0"/>
              </a:lnSpc>
              <a:spcBef>
                <a:spcPct val="0"/>
              </a:spcBef>
            </a:pPr>
            <a:r>
              <a:rPr lang="en-US" sz="1700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Anticipación de demanda para compras inteligentes.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6569639" y="5977879"/>
            <a:ext cx="3410216" cy="570808"/>
            <a:chOff x="0" y="0"/>
            <a:chExt cx="898164" cy="15033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98164" cy="150336"/>
            </a:xfrm>
            <a:custGeom>
              <a:avLst/>
              <a:gdLst/>
              <a:ahLst/>
              <a:cxnLst/>
              <a:rect r="r" b="b" t="t" l="l"/>
              <a:pathLst>
                <a:path h="150336" w="898164">
                  <a:moveTo>
                    <a:pt x="52215" y="0"/>
                  </a:moveTo>
                  <a:lnTo>
                    <a:pt x="845949" y="0"/>
                  </a:lnTo>
                  <a:cubicBezTo>
                    <a:pt x="859797" y="0"/>
                    <a:pt x="873078" y="5501"/>
                    <a:pt x="882870" y="15293"/>
                  </a:cubicBezTo>
                  <a:cubicBezTo>
                    <a:pt x="892663" y="25086"/>
                    <a:pt x="898164" y="38367"/>
                    <a:pt x="898164" y="52215"/>
                  </a:cubicBezTo>
                  <a:lnTo>
                    <a:pt x="898164" y="98121"/>
                  </a:lnTo>
                  <a:cubicBezTo>
                    <a:pt x="898164" y="111970"/>
                    <a:pt x="892663" y="125251"/>
                    <a:pt x="882870" y="135043"/>
                  </a:cubicBezTo>
                  <a:cubicBezTo>
                    <a:pt x="873078" y="144835"/>
                    <a:pt x="859797" y="150336"/>
                    <a:pt x="845949" y="150336"/>
                  </a:cubicBezTo>
                  <a:lnTo>
                    <a:pt x="52215" y="150336"/>
                  </a:lnTo>
                  <a:cubicBezTo>
                    <a:pt x="38367" y="150336"/>
                    <a:pt x="25086" y="144835"/>
                    <a:pt x="15293" y="135043"/>
                  </a:cubicBezTo>
                  <a:cubicBezTo>
                    <a:pt x="5501" y="125251"/>
                    <a:pt x="0" y="111970"/>
                    <a:pt x="0" y="98121"/>
                  </a:cubicBezTo>
                  <a:lnTo>
                    <a:pt x="0" y="52215"/>
                  </a:lnTo>
                  <a:cubicBezTo>
                    <a:pt x="0" y="38367"/>
                    <a:pt x="5501" y="25086"/>
                    <a:pt x="15293" y="15293"/>
                  </a:cubicBezTo>
                  <a:cubicBezTo>
                    <a:pt x="25086" y="5501"/>
                    <a:pt x="38367" y="0"/>
                    <a:pt x="52215" y="0"/>
                  </a:cubicBezTo>
                  <a:close/>
                </a:path>
              </a:pathLst>
            </a:custGeom>
            <a:solidFill>
              <a:srgbClr val="2A8513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898164" cy="1884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587111" y="6059275"/>
            <a:ext cx="3479917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Proyecciones IA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6284083" y="8288838"/>
            <a:ext cx="4027738" cy="1247100"/>
            <a:chOff x="0" y="0"/>
            <a:chExt cx="1060804" cy="328454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60804" cy="328454"/>
            </a:xfrm>
            <a:custGeom>
              <a:avLst/>
              <a:gdLst/>
              <a:ahLst/>
              <a:cxnLst/>
              <a:rect r="r" b="b" t="t" l="l"/>
              <a:pathLst>
                <a:path h="328454" w="1060804">
                  <a:moveTo>
                    <a:pt x="44209" y="0"/>
                  </a:moveTo>
                  <a:lnTo>
                    <a:pt x="1016594" y="0"/>
                  </a:lnTo>
                  <a:cubicBezTo>
                    <a:pt x="1041010" y="0"/>
                    <a:pt x="1060804" y="19793"/>
                    <a:pt x="1060804" y="44209"/>
                  </a:cubicBezTo>
                  <a:lnTo>
                    <a:pt x="1060804" y="284245"/>
                  </a:lnTo>
                  <a:cubicBezTo>
                    <a:pt x="1060804" y="308661"/>
                    <a:pt x="1041010" y="328454"/>
                    <a:pt x="1016594" y="328454"/>
                  </a:cubicBezTo>
                  <a:lnTo>
                    <a:pt x="44209" y="328454"/>
                  </a:lnTo>
                  <a:cubicBezTo>
                    <a:pt x="19793" y="328454"/>
                    <a:pt x="0" y="308661"/>
                    <a:pt x="0" y="284245"/>
                  </a:cubicBezTo>
                  <a:lnTo>
                    <a:pt x="0" y="44209"/>
                  </a:lnTo>
                  <a:cubicBezTo>
                    <a:pt x="0" y="19793"/>
                    <a:pt x="19793" y="0"/>
                    <a:pt x="4420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50000">
                  <a:srgbClr val="F9FDFF">
                    <a:alpha val="100000"/>
                  </a:srgbClr>
                </a:gs>
                <a:gs pos="100000">
                  <a:srgbClr val="E1F2FA">
                    <a:alpha val="100000"/>
                  </a:srgbClr>
                </a:gs>
              </a:gsLst>
              <a:lin ang="2700000"/>
            </a:gradFill>
            <a:ln w="38100" cap="rnd">
              <a:gradFill>
                <a:gsLst>
                  <a:gs pos="0">
                    <a:srgbClr val="00501E">
                      <a:alpha val="100000"/>
                    </a:srgbClr>
                  </a:gs>
                  <a:gs pos="100000">
                    <a:srgbClr val="6CA62C">
                      <a:alpha val="10000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41" id="41"/>
            <p:cNvSpPr txBox="true"/>
            <p:nvPr/>
          </p:nvSpPr>
          <p:spPr>
            <a:xfrm>
              <a:off x="0" y="-38100"/>
              <a:ext cx="1060804" cy="3665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59"/>
                </a:lnSpc>
              </a:pP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6631295" y="8589654"/>
            <a:ext cx="3479917" cy="585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0"/>
              </a:lnSpc>
              <a:spcBef>
                <a:spcPct val="0"/>
              </a:spcBef>
            </a:pPr>
            <a:r>
              <a:rPr lang="en-US" sz="1700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Visualización de KPIs y alertas en tiempo real.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6631295" y="7895021"/>
            <a:ext cx="3410216" cy="570808"/>
            <a:chOff x="0" y="0"/>
            <a:chExt cx="898164" cy="150336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98164" cy="150336"/>
            </a:xfrm>
            <a:custGeom>
              <a:avLst/>
              <a:gdLst/>
              <a:ahLst/>
              <a:cxnLst/>
              <a:rect r="r" b="b" t="t" l="l"/>
              <a:pathLst>
                <a:path h="150336" w="898164">
                  <a:moveTo>
                    <a:pt x="52215" y="0"/>
                  </a:moveTo>
                  <a:lnTo>
                    <a:pt x="845949" y="0"/>
                  </a:lnTo>
                  <a:cubicBezTo>
                    <a:pt x="859797" y="0"/>
                    <a:pt x="873078" y="5501"/>
                    <a:pt x="882870" y="15293"/>
                  </a:cubicBezTo>
                  <a:cubicBezTo>
                    <a:pt x="892663" y="25086"/>
                    <a:pt x="898164" y="38367"/>
                    <a:pt x="898164" y="52215"/>
                  </a:cubicBezTo>
                  <a:lnTo>
                    <a:pt x="898164" y="98121"/>
                  </a:lnTo>
                  <a:cubicBezTo>
                    <a:pt x="898164" y="111970"/>
                    <a:pt x="892663" y="125251"/>
                    <a:pt x="882870" y="135043"/>
                  </a:cubicBezTo>
                  <a:cubicBezTo>
                    <a:pt x="873078" y="144835"/>
                    <a:pt x="859797" y="150336"/>
                    <a:pt x="845949" y="150336"/>
                  </a:cubicBezTo>
                  <a:lnTo>
                    <a:pt x="52215" y="150336"/>
                  </a:lnTo>
                  <a:cubicBezTo>
                    <a:pt x="38367" y="150336"/>
                    <a:pt x="25086" y="144835"/>
                    <a:pt x="15293" y="135043"/>
                  </a:cubicBezTo>
                  <a:cubicBezTo>
                    <a:pt x="5501" y="125251"/>
                    <a:pt x="0" y="111970"/>
                    <a:pt x="0" y="98121"/>
                  </a:cubicBezTo>
                  <a:lnTo>
                    <a:pt x="0" y="52215"/>
                  </a:lnTo>
                  <a:cubicBezTo>
                    <a:pt x="0" y="38367"/>
                    <a:pt x="5501" y="25086"/>
                    <a:pt x="15293" y="15293"/>
                  </a:cubicBezTo>
                  <a:cubicBezTo>
                    <a:pt x="25086" y="5501"/>
                    <a:pt x="38367" y="0"/>
                    <a:pt x="52215" y="0"/>
                  </a:cubicBezTo>
                  <a:close/>
                </a:path>
              </a:pathLst>
            </a:custGeom>
            <a:solidFill>
              <a:srgbClr val="2A8513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898164" cy="1884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6648768" y="7976416"/>
            <a:ext cx="3479917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Dashboard Estratégico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714716" y="4537713"/>
            <a:ext cx="4027738" cy="1247100"/>
            <a:chOff x="0" y="0"/>
            <a:chExt cx="1060804" cy="32845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060804" cy="328454"/>
            </a:xfrm>
            <a:custGeom>
              <a:avLst/>
              <a:gdLst/>
              <a:ahLst/>
              <a:cxnLst/>
              <a:rect r="r" b="b" t="t" l="l"/>
              <a:pathLst>
                <a:path h="328454" w="1060804">
                  <a:moveTo>
                    <a:pt x="44209" y="0"/>
                  </a:moveTo>
                  <a:lnTo>
                    <a:pt x="1016594" y="0"/>
                  </a:lnTo>
                  <a:cubicBezTo>
                    <a:pt x="1041010" y="0"/>
                    <a:pt x="1060804" y="19793"/>
                    <a:pt x="1060804" y="44209"/>
                  </a:cubicBezTo>
                  <a:lnTo>
                    <a:pt x="1060804" y="284245"/>
                  </a:lnTo>
                  <a:cubicBezTo>
                    <a:pt x="1060804" y="308661"/>
                    <a:pt x="1041010" y="328454"/>
                    <a:pt x="1016594" y="328454"/>
                  </a:cubicBezTo>
                  <a:lnTo>
                    <a:pt x="44209" y="328454"/>
                  </a:lnTo>
                  <a:cubicBezTo>
                    <a:pt x="19793" y="328454"/>
                    <a:pt x="0" y="308661"/>
                    <a:pt x="0" y="284245"/>
                  </a:cubicBezTo>
                  <a:lnTo>
                    <a:pt x="0" y="44209"/>
                  </a:lnTo>
                  <a:cubicBezTo>
                    <a:pt x="0" y="19793"/>
                    <a:pt x="19793" y="0"/>
                    <a:pt x="4420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50000">
                  <a:srgbClr val="F9FDFF">
                    <a:alpha val="100000"/>
                  </a:srgbClr>
                </a:gs>
                <a:gs pos="100000">
                  <a:srgbClr val="E1F2FA">
                    <a:alpha val="100000"/>
                  </a:srgbClr>
                </a:gs>
              </a:gsLst>
              <a:lin ang="2700000"/>
            </a:gradFill>
            <a:ln w="38100" cap="rnd">
              <a:solidFill>
                <a:srgbClr val="C53441"/>
              </a:solidFill>
              <a:prstDash val="solid"/>
              <a:round/>
            </a:ln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1060804" cy="3665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59"/>
                </a:lnSpc>
              </a:pPr>
            </a:p>
          </p:txBody>
        </p:sp>
      </p:grpSp>
      <p:sp>
        <p:nvSpPr>
          <p:cNvPr name="TextBox 50" id="50"/>
          <p:cNvSpPr txBox="true"/>
          <p:nvPr/>
        </p:nvSpPr>
        <p:spPr>
          <a:xfrm rot="0">
            <a:off x="1061929" y="4838529"/>
            <a:ext cx="3479917" cy="585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0"/>
              </a:lnSpc>
              <a:spcBef>
                <a:spcPct val="0"/>
              </a:spcBef>
            </a:pPr>
            <a:r>
              <a:rPr lang="en-US" sz="1700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Procesos manuales que generan errores y fugas de dinero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1061929" y="4143896"/>
            <a:ext cx="3410216" cy="570808"/>
            <a:chOff x="0" y="0"/>
            <a:chExt cx="898164" cy="150336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898164" cy="150336"/>
            </a:xfrm>
            <a:custGeom>
              <a:avLst/>
              <a:gdLst/>
              <a:ahLst/>
              <a:cxnLst/>
              <a:rect r="r" b="b" t="t" l="l"/>
              <a:pathLst>
                <a:path h="150336" w="898164">
                  <a:moveTo>
                    <a:pt x="52215" y="0"/>
                  </a:moveTo>
                  <a:lnTo>
                    <a:pt x="845949" y="0"/>
                  </a:lnTo>
                  <a:cubicBezTo>
                    <a:pt x="859797" y="0"/>
                    <a:pt x="873078" y="5501"/>
                    <a:pt x="882870" y="15293"/>
                  </a:cubicBezTo>
                  <a:cubicBezTo>
                    <a:pt x="892663" y="25086"/>
                    <a:pt x="898164" y="38367"/>
                    <a:pt x="898164" y="52215"/>
                  </a:cubicBezTo>
                  <a:lnTo>
                    <a:pt x="898164" y="98121"/>
                  </a:lnTo>
                  <a:cubicBezTo>
                    <a:pt x="898164" y="111970"/>
                    <a:pt x="892663" y="125251"/>
                    <a:pt x="882870" y="135043"/>
                  </a:cubicBezTo>
                  <a:cubicBezTo>
                    <a:pt x="873078" y="144835"/>
                    <a:pt x="859797" y="150336"/>
                    <a:pt x="845949" y="150336"/>
                  </a:cubicBezTo>
                  <a:lnTo>
                    <a:pt x="52215" y="150336"/>
                  </a:lnTo>
                  <a:cubicBezTo>
                    <a:pt x="38367" y="150336"/>
                    <a:pt x="25086" y="144835"/>
                    <a:pt x="15293" y="135043"/>
                  </a:cubicBezTo>
                  <a:cubicBezTo>
                    <a:pt x="5501" y="125251"/>
                    <a:pt x="0" y="111970"/>
                    <a:pt x="0" y="98121"/>
                  </a:cubicBezTo>
                  <a:lnTo>
                    <a:pt x="0" y="52215"/>
                  </a:lnTo>
                  <a:cubicBezTo>
                    <a:pt x="0" y="38367"/>
                    <a:pt x="5501" y="25086"/>
                    <a:pt x="15293" y="15293"/>
                  </a:cubicBezTo>
                  <a:cubicBezTo>
                    <a:pt x="25086" y="5501"/>
                    <a:pt x="38367" y="0"/>
                    <a:pt x="52215" y="0"/>
                  </a:cubicBezTo>
                  <a:close/>
                </a:path>
              </a:pathLst>
            </a:custGeom>
            <a:solidFill>
              <a:srgbClr val="C53441"/>
            </a:solid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898164" cy="1884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1079401" y="4225291"/>
            <a:ext cx="3479917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Falta de Control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743833" y="6511068"/>
            <a:ext cx="4027738" cy="1247100"/>
            <a:chOff x="0" y="0"/>
            <a:chExt cx="1060804" cy="328454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060804" cy="328454"/>
            </a:xfrm>
            <a:custGeom>
              <a:avLst/>
              <a:gdLst/>
              <a:ahLst/>
              <a:cxnLst/>
              <a:rect r="r" b="b" t="t" l="l"/>
              <a:pathLst>
                <a:path h="328454" w="1060804">
                  <a:moveTo>
                    <a:pt x="44209" y="0"/>
                  </a:moveTo>
                  <a:lnTo>
                    <a:pt x="1016594" y="0"/>
                  </a:lnTo>
                  <a:cubicBezTo>
                    <a:pt x="1041010" y="0"/>
                    <a:pt x="1060804" y="19793"/>
                    <a:pt x="1060804" y="44209"/>
                  </a:cubicBezTo>
                  <a:lnTo>
                    <a:pt x="1060804" y="284245"/>
                  </a:lnTo>
                  <a:cubicBezTo>
                    <a:pt x="1060804" y="308661"/>
                    <a:pt x="1041010" y="328454"/>
                    <a:pt x="1016594" y="328454"/>
                  </a:cubicBezTo>
                  <a:lnTo>
                    <a:pt x="44209" y="328454"/>
                  </a:lnTo>
                  <a:cubicBezTo>
                    <a:pt x="19793" y="328454"/>
                    <a:pt x="0" y="308661"/>
                    <a:pt x="0" y="284245"/>
                  </a:cubicBezTo>
                  <a:lnTo>
                    <a:pt x="0" y="44209"/>
                  </a:lnTo>
                  <a:cubicBezTo>
                    <a:pt x="0" y="19793"/>
                    <a:pt x="19793" y="0"/>
                    <a:pt x="4420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50000">
                  <a:srgbClr val="F9FDFF">
                    <a:alpha val="100000"/>
                  </a:srgbClr>
                </a:gs>
                <a:gs pos="100000">
                  <a:srgbClr val="E1F2FA">
                    <a:alpha val="100000"/>
                  </a:srgbClr>
                </a:gs>
              </a:gsLst>
              <a:lin ang="2700000"/>
            </a:gradFill>
            <a:ln w="38100" cap="rnd">
              <a:solidFill>
                <a:srgbClr val="C53441"/>
              </a:solidFill>
              <a:prstDash val="solid"/>
              <a:round/>
            </a:ln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1060804" cy="3665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59"/>
                </a:lnSpc>
              </a:pPr>
            </a:p>
          </p:txBody>
        </p:sp>
      </p:grpSp>
      <p:sp>
        <p:nvSpPr>
          <p:cNvPr name="TextBox 58" id="58"/>
          <p:cNvSpPr txBox="true"/>
          <p:nvPr/>
        </p:nvSpPr>
        <p:spPr>
          <a:xfrm rot="0">
            <a:off x="1091045" y="6811884"/>
            <a:ext cx="3479917" cy="585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0"/>
              </a:lnSpc>
              <a:spcBef>
                <a:spcPct val="0"/>
              </a:spcBef>
            </a:pPr>
            <a:r>
              <a:rPr lang="en-US" sz="1700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Pérdida de ventas por no tener producto crítico.</a:t>
            </a:r>
          </a:p>
        </p:txBody>
      </p:sp>
      <p:grpSp>
        <p:nvGrpSpPr>
          <p:cNvPr name="Group 59" id="59"/>
          <p:cNvGrpSpPr/>
          <p:nvPr/>
        </p:nvGrpSpPr>
        <p:grpSpPr>
          <a:xfrm rot="0">
            <a:off x="1091045" y="6117251"/>
            <a:ext cx="3410216" cy="570808"/>
            <a:chOff x="0" y="0"/>
            <a:chExt cx="898164" cy="150336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898164" cy="150336"/>
            </a:xfrm>
            <a:custGeom>
              <a:avLst/>
              <a:gdLst/>
              <a:ahLst/>
              <a:cxnLst/>
              <a:rect r="r" b="b" t="t" l="l"/>
              <a:pathLst>
                <a:path h="150336" w="898164">
                  <a:moveTo>
                    <a:pt x="52215" y="0"/>
                  </a:moveTo>
                  <a:lnTo>
                    <a:pt x="845949" y="0"/>
                  </a:lnTo>
                  <a:cubicBezTo>
                    <a:pt x="859797" y="0"/>
                    <a:pt x="873078" y="5501"/>
                    <a:pt x="882870" y="15293"/>
                  </a:cubicBezTo>
                  <a:cubicBezTo>
                    <a:pt x="892663" y="25086"/>
                    <a:pt x="898164" y="38367"/>
                    <a:pt x="898164" y="52215"/>
                  </a:cubicBezTo>
                  <a:lnTo>
                    <a:pt x="898164" y="98121"/>
                  </a:lnTo>
                  <a:cubicBezTo>
                    <a:pt x="898164" y="111970"/>
                    <a:pt x="892663" y="125251"/>
                    <a:pt x="882870" y="135043"/>
                  </a:cubicBezTo>
                  <a:cubicBezTo>
                    <a:pt x="873078" y="144835"/>
                    <a:pt x="859797" y="150336"/>
                    <a:pt x="845949" y="150336"/>
                  </a:cubicBezTo>
                  <a:lnTo>
                    <a:pt x="52215" y="150336"/>
                  </a:lnTo>
                  <a:cubicBezTo>
                    <a:pt x="38367" y="150336"/>
                    <a:pt x="25086" y="144835"/>
                    <a:pt x="15293" y="135043"/>
                  </a:cubicBezTo>
                  <a:cubicBezTo>
                    <a:pt x="5501" y="125251"/>
                    <a:pt x="0" y="111970"/>
                    <a:pt x="0" y="98121"/>
                  </a:cubicBezTo>
                  <a:lnTo>
                    <a:pt x="0" y="52215"/>
                  </a:lnTo>
                  <a:cubicBezTo>
                    <a:pt x="0" y="38367"/>
                    <a:pt x="5501" y="25086"/>
                    <a:pt x="15293" y="15293"/>
                  </a:cubicBezTo>
                  <a:cubicBezTo>
                    <a:pt x="25086" y="5501"/>
                    <a:pt x="38367" y="0"/>
                    <a:pt x="52215" y="0"/>
                  </a:cubicBezTo>
                  <a:close/>
                </a:path>
              </a:pathLst>
            </a:custGeom>
            <a:solidFill>
              <a:srgbClr val="C53441"/>
            </a:solid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898164" cy="1884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2" id="62"/>
          <p:cNvSpPr txBox="true"/>
          <p:nvPr/>
        </p:nvSpPr>
        <p:spPr>
          <a:xfrm rot="0">
            <a:off x="1108517" y="6198646"/>
            <a:ext cx="3479917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Quiebres de Stock</a:t>
            </a:r>
          </a:p>
        </p:txBody>
      </p:sp>
      <p:grpSp>
        <p:nvGrpSpPr>
          <p:cNvPr name="Group 63" id="63"/>
          <p:cNvGrpSpPr/>
          <p:nvPr/>
        </p:nvGrpSpPr>
        <p:grpSpPr>
          <a:xfrm rot="0">
            <a:off x="805490" y="8428210"/>
            <a:ext cx="4027738" cy="1247100"/>
            <a:chOff x="0" y="0"/>
            <a:chExt cx="1060804" cy="32845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060804" cy="328454"/>
            </a:xfrm>
            <a:custGeom>
              <a:avLst/>
              <a:gdLst/>
              <a:ahLst/>
              <a:cxnLst/>
              <a:rect r="r" b="b" t="t" l="l"/>
              <a:pathLst>
                <a:path h="328454" w="1060804">
                  <a:moveTo>
                    <a:pt x="44209" y="0"/>
                  </a:moveTo>
                  <a:lnTo>
                    <a:pt x="1016594" y="0"/>
                  </a:lnTo>
                  <a:cubicBezTo>
                    <a:pt x="1041010" y="0"/>
                    <a:pt x="1060804" y="19793"/>
                    <a:pt x="1060804" y="44209"/>
                  </a:cubicBezTo>
                  <a:lnTo>
                    <a:pt x="1060804" y="284245"/>
                  </a:lnTo>
                  <a:cubicBezTo>
                    <a:pt x="1060804" y="308661"/>
                    <a:pt x="1041010" y="328454"/>
                    <a:pt x="1016594" y="328454"/>
                  </a:cubicBezTo>
                  <a:lnTo>
                    <a:pt x="44209" y="328454"/>
                  </a:lnTo>
                  <a:cubicBezTo>
                    <a:pt x="19793" y="328454"/>
                    <a:pt x="0" y="308661"/>
                    <a:pt x="0" y="284245"/>
                  </a:cubicBezTo>
                  <a:lnTo>
                    <a:pt x="0" y="44209"/>
                  </a:lnTo>
                  <a:cubicBezTo>
                    <a:pt x="0" y="19793"/>
                    <a:pt x="19793" y="0"/>
                    <a:pt x="4420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50000">
                  <a:srgbClr val="F9FDFF">
                    <a:alpha val="100000"/>
                  </a:srgbClr>
                </a:gs>
                <a:gs pos="100000">
                  <a:srgbClr val="E1F2FA">
                    <a:alpha val="100000"/>
                  </a:srgbClr>
                </a:gs>
              </a:gsLst>
              <a:lin ang="2700000"/>
            </a:gradFill>
            <a:ln w="38100" cap="rnd">
              <a:solidFill>
                <a:srgbClr val="C53441"/>
              </a:solidFill>
              <a:prstDash val="solid"/>
              <a:round/>
            </a:ln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1060804" cy="3665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659"/>
                </a:lnSpc>
              </a:pP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1152702" y="8729026"/>
            <a:ext cx="3479917" cy="585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0"/>
              </a:lnSpc>
              <a:spcBef>
                <a:spcPct val="0"/>
              </a:spcBef>
            </a:pPr>
            <a:r>
              <a:rPr lang="en-US" sz="1700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Exceso de mercancía "dormida" que aumenta costos.</a:t>
            </a:r>
          </a:p>
        </p:txBody>
      </p:sp>
      <p:grpSp>
        <p:nvGrpSpPr>
          <p:cNvPr name="Group 67" id="67"/>
          <p:cNvGrpSpPr/>
          <p:nvPr/>
        </p:nvGrpSpPr>
        <p:grpSpPr>
          <a:xfrm rot="0">
            <a:off x="1152702" y="8034393"/>
            <a:ext cx="3410216" cy="570808"/>
            <a:chOff x="0" y="0"/>
            <a:chExt cx="898164" cy="150336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898164" cy="150336"/>
            </a:xfrm>
            <a:custGeom>
              <a:avLst/>
              <a:gdLst/>
              <a:ahLst/>
              <a:cxnLst/>
              <a:rect r="r" b="b" t="t" l="l"/>
              <a:pathLst>
                <a:path h="150336" w="898164">
                  <a:moveTo>
                    <a:pt x="52215" y="0"/>
                  </a:moveTo>
                  <a:lnTo>
                    <a:pt x="845949" y="0"/>
                  </a:lnTo>
                  <a:cubicBezTo>
                    <a:pt x="859797" y="0"/>
                    <a:pt x="873078" y="5501"/>
                    <a:pt x="882870" y="15293"/>
                  </a:cubicBezTo>
                  <a:cubicBezTo>
                    <a:pt x="892663" y="25086"/>
                    <a:pt x="898164" y="38367"/>
                    <a:pt x="898164" y="52215"/>
                  </a:cubicBezTo>
                  <a:lnTo>
                    <a:pt x="898164" y="98121"/>
                  </a:lnTo>
                  <a:cubicBezTo>
                    <a:pt x="898164" y="111970"/>
                    <a:pt x="892663" y="125251"/>
                    <a:pt x="882870" y="135043"/>
                  </a:cubicBezTo>
                  <a:cubicBezTo>
                    <a:pt x="873078" y="144835"/>
                    <a:pt x="859797" y="150336"/>
                    <a:pt x="845949" y="150336"/>
                  </a:cubicBezTo>
                  <a:lnTo>
                    <a:pt x="52215" y="150336"/>
                  </a:lnTo>
                  <a:cubicBezTo>
                    <a:pt x="38367" y="150336"/>
                    <a:pt x="25086" y="144835"/>
                    <a:pt x="15293" y="135043"/>
                  </a:cubicBezTo>
                  <a:cubicBezTo>
                    <a:pt x="5501" y="125251"/>
                    <a:pt x="0" y="111970"/>
                    <a:pt x="0" y="98121"/>
                  </a:cubicBezTo>
                  <a:lnTo>
                    <a:pt x="0" y="52215"/>
                  </a:lnTo>
                  <a:cubicBezTo>
                    <a:pt x="0" y="38367"/>
                    <a:pt x="5501" y="25086"/>
                    <a:pt x="15293" y="15293"/>
                  </a:cubicBezTo>
                  <a:cubicBezTo>
                    <a:pt x="25086" y="5501"/>
                    <a:pt x="38367" y="0"/>
                    <a:pt x="52215" y="0"/>
                  </a:cubicBezTo>
                  <a:close/>
                </a:path>
              </a:pathLst>
            </a:custGeom>
            <a:solidFill>
              <a:srgbClr val="C53441"/>
            </a:solid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898164" cy="1884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70" id="70"/>
          <p:cNvSpPr txBox="true"/>
          <p:nvPr/>
        </p:nvSpPr>
        <p:spPr>
          <a:xfrm rot="0">
            <a:off x="1170174" y="8115788"/>
            <a:ext cx="3479917" cy="372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  <a:spcBef>
                <a:spcPct val="0"/>
              </a:spcBef>
            </a:pP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Sobrecarga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F8FDFF">
                <a:alpha val="100000"/>
              </a:srgbClr>
            </a:gs>
            <a:gs pos="100000">
              <a:srgbClr val="EFFAFF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99550" y="2357473"/>
            <a:ext cx="2303781" cy="2061884"/>
          </a:xfrm>
          <a:custGeom>
            <a:avLst/>
            <a:gdLst/>
            <a:ahLst/>
            <a:cxnLst/>
            <a:rect r="r" b="b" t="t" l="l"/>
            <a:pathLst>
              <a:path h="2061884" w="2303781">
                <a:moveTo>
                  <a:pt x="0" y="0"/>
                </a:moveTo>
                <a:lnTo>
                  <a:pt x="2303782" y="0"/>
                </a:lnTo>
                <a:lnTo>
                  <a:pt x="2303782" y="2061885"/>
                </a:lnTo>
                <a:lnTo>
                  <a:pt x="0" y="206188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807481" y="3513277"/>
            <a:ext cx="15451819" cy="3569103"/>
            <a:chOff x="0" y="0"/>
            <a:chExt cx="4069615" cy="9400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069615" cy="940011"/>
            </a:xfrm>
            <a:custGeom>
              <a:avLst/>
              <a:gdLst/>
              <a:ahLst/>
              <a:cxnLst/>
              <a:rect r="r" b="b" t="t" l="l"/>
              <a:pathLst>
                <a:path h="940011" w="4069615">
                  <a:moveTo>
                    <a:pt x="10522" y="0"/>
                  </a:moveTo>
                  <a:lnTo>
                    <a:pt x="4059093" y="0"/>
                  </a:lnTo>
                  <a:cubicBezTo>
                    <a:pt x="4064904" y="0"/>
                    <a:pt x="4069615" y="4711"/>
                    <a:pt x="4069615" y="10522"/>
                  </a:cubicBezTo>
                  <a:lnTo>
                    <a:pt x="4069615" y="929489"/>
                  </a:lnTo>
                  <a:cubicBezTo>
                    <a:pt x="4069615" y="935300"/>
                    <a:pt x="4064904" y="940011"/>
                    <a:pt x="4059093" y="940011"/>
                  </a:cubicBezTo>
                  <a:lnTo>
                    <a:pt x="10522" y="940011"/>
                  </a:lnTo>
                  <a:cubicBezTo>
                    <a:pt x="4711" y="940011"/>
                    <a:pt x="0" y="935300"/>
                    <a:pt x="0" y="929489"/>
                  </a:cubicBezTo>
                  <a:lnTo>
                    <a:pt x="0" y="10522"/>
                  </a:lnTo>
                  <a:cubicBezTo>
                    <a:pt x="0" y="4711"/>
                    <a:pt x="4711" y="0"/>
                    <a:pt x="10522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069615" cy="9781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3133427">
            <a:off x="897610" y="977422"/>
            <a:ext cx="1443572" cy="1423723"/>
          </a:xfrm>
          <a:custGeom>
            <a:avLst/>
            <a:gdLst/>
            <a:ahLst/>
            <a:cxnLst/>
            <a:rect r="r" b="b" t="t" l="l"/>
            <a:pathLst>
              <a:path h="1423723" w="1443572">
                <a:moveTo>
                  <a:pt x="0" y="0"/>
                </a:moveTo>
                <a:lnTo>
                  <a:pt x="1443572" y="0"/>
                </a:lnTo>
                <a:lnTo>
                  <a:pt x="1443572" y="1423723"/>
                </a:lnTo>
                <a:lnTo>
                  <a:pt x="0" y="14237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2937989">
            <a:off x="5753650" y="473498"/>
            <a:ext cx="1443572" cy="1423723"/>
          </a:xfrm>
          <a:custGeom>
            <a:avLst/>
            <a:gdLst/>
            <a:ahLst/>
            <a:cxnLst/>
            <a:rect r="r" b="b" t="t" l="l"/>
            <a:pathLst>
              <a:path h="1423723" w="1443572">
                <a:moveTo>
                  <a:pt x="0" y="0"/>
                </a:moveTo>
                <a:lnTo>
                  <a:pt x="1443572" y="0"/>
                </a:lnTo>
                <a:lnTo>
                  <a:pt x="1443572" y="1423723"/>
                </a:lnTo>
                <a:lnTo>
                  <a:pt x="0" y="14237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2971382">
            <a:off x="15868774" y="7917081"/>
            <a:ext cx="3176269" cy="3176269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2971382">
            <a:off x="345777" y="4103203"/>
            <a:ext cx="1213129" cy="1213129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-9147693">
            <a:off x="8884920" y="-3059290"/>
            <a:ext cx="4232519" cy="4232519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5035225" y="-42226"/>
            <a:ext cx="3283515" cy="2938746"/>
          </a:xfrm>
          <a:custGeom>
            <a:avLst/>
            <a:gdLst/>
            <a:ahLst/>
            <a:cxnLst/>
            <a:rect r="r" b="b" t="t" l="l"/>
            <a:pathLst>
              <a:path h="2938746" w="3283515">
                <a:moveTo>
                  <a:pt x="0" y="0"/>
                </a:moveTo>
                <a:lnTo>
                  <a:pt x="3283515" y="0"/>
                </a:lnTo>
                <a:lnTo>
                  <a:pt x="3283515" y="2938746"/>
                </a:lnTo>
                <a:lnTo>
                  <a:pt x="0" y="29387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5887697" y="7266249"/>
            <a:ext cx="3631708" cy="3250379"/>
          </a:xfrm>
          <a:custGeom>
            <a:avLst/>
            <a:gdLst/>
            <a:ahLst/>
            <a:cxnLst/>
            <a:rect r="r" b="b" t="t" l="l"/>
            <a:pathLst>
              <a:path h="3250379" w="3631708">
                <a:moveTo>
                  <a:pt x="0" y="0"/>
                </a:moveTo>
                <a:lnTo>
                  <a:pt x="3631708" y="0"/>
                </a:lnTo>
                <a:lnTo>
                  <a:pt x="3631708" y="3250378"/>
                </a:lnTo>
                <a:lnTo>
                  <a:pt x="0" y="32503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-80396" y="482510"/>
            <a:ext cx="8226647" cy="9321979"/>
          </a:xfrm>
          <a:custGeom>
            <a:avLst/>
            <a:gdLst/>
            <a:ahLst/>
            <a:cxnLst/>
            <a:rect r="r" b="b" t="t" l="l"/>
            <a:pathLst>
              <a:path h="9321979" w="8226647">
                <a:moveTo>
                  <a:pt x="0" y="0"/>
                </a:moveTo>
                <a:lnTo>
                  <a:pt x="8226647" y="0"/>
                </a:lnTo>
                <a:lnTo>
                  <a:pt x="8226647" y="9321980"/>
                </a:lnTo>
                <a:lnTo>
                  <a:pt x="0" y="93219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5155701" y="4576168"/>
            <a:ext cx="11690956" cy="1977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888"/>
              </a:lnSpc>
            </a:pPr>
            <a:r>
              <a:rPr lang="en-US" sz="3323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Ser la plataforma de inteligencia de inventario </a:t>
            </a:r>
            <a:r>
              <a:rPr lang="en-US" b="true" sz="3323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más precisa y automatizada del mercado</a:t>
            </a:r>
            <a:r>
              <a:rPr lang="en-US" sz="3323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transformando el stock de nuestros clientes de un</a:t>
            </a:r>
            <a:r>
              <a:rPr lang="en-US" b="true" sz="3323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costo operativo a un activo de inversión optimizado</a:t>
            </a:r>
            <a:r>
              <a:rPr lang="en-US" sz="3323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5454106" y="6069667"/>
            <a:ext cx="1443572" cy="1423723"/>
          </a:xfrm>
          <a:custGeom>
            <a:avLst/>
            <a:gdLst/>
            <a:ahLst/>
            <a:cxnLst/>
            <a:rect r="r" b="b" t="t" l="l"/>
            <a:pathLst>
              <a:path h="1423723" w="1443572">
                <a:moveTo>
                  <a:pt x="0" y="0"/>
                </a:moveTo>
                <a:lnTo>
                  <a:pt x="1443572" y="0"/>
                </a:lnTo>
                <a:lnTo>
                  <a:pt x="1443572" y="1423723"/>
                </a:lnTo>
                <a:lnTo>
                  <a:pt x="0" y="14237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-5082303">
            <a:off x="607013" y="5997130"/>
            <a:ext cx="1443572" cy="1423723"/>
          </a:xfrm>
          <a:custGeom>
            <a:avLst/>
            <a:gdLst/>
            <a:ahLst/>
            <a:cxnLst/>
            <a:rect r="r" b="b" t="t" l="l"/>
            <a:pathLst>
              <a:path h="1423723" w="1443572">
                <a:moveTo>
                  <a:pt x="0" y="0"/>
                </a:moveTo>
                <a:lnTo>
                  <a:pt x="1443573" y="0"/>
                </a:lnTo>
                <a:lnTo>
                  <a:pt x="1443573" y="1423723"/>
                </a:lnTo>
                <a:lnTo>
                  <a:pt x="0" y="14237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2209184" y="-391848"/>
            <a:ext cx="3150471" cy="3154414"/>
          </a:xfrm>
          <a:custGeom>
            <a:avLst/>
            <a:gdLst/>
            <a:ahLst/>
            <a:cxnLst/>
            <a:rect r="r" b="b" t="t" l="l"/>
            <a:pathLst>
              <a:path h="3154414" w="3150471">
                <a:moveTo>
                  <a:pt x="0" y="0"/>
                </a:moveTo>
                <a:lnTo>
                  <a:pt x="3150471" y="0"/>
                </a:lnTo>
                <a:lnTo>
                  <a:pt x="3150471" y="3154414"/>
                </a:lnTo>
                <a:lnTo>
                  <a:pt x="0" y="31544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1000"/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8862516" y="3824818"/>
            <a:ext cx="7994547" cy="594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883"/>
              </a:lnSpc>
            </a:pPr>
            <a:r>
              <a:rPr lang="en-US" sz="3488" spc="558">
                <a:solidFill>
                  <a:srgbClr val="F7D958"/>
                </a:solidFill>
                <a:latin typeface="Inter"/>
                <a:ea typeface="Inter"/>
                <a:cs typeface="Inter"/>
                <a:sym typeface="Inter"/>
              </a:rPr>
              <a:t>INVEX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8320322" y="1835698"/>
            <a:ext cx="6423154" cy="589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763"/>
              </a:lnSpc>
            </a:pPr>
            <a:r>
              <a:rPr lang="en-US" sz="3402" spc="544">
                <a:solidFill>
                  <a:srgbClr val="C68817"/>
                </a:solidFill>
                <a:latin typeface="Inter"/>
                <a:ea typeface="Inter"/>
                <a:cs typeface="Inter"/>
                <a:sym typeface="Inter"/>
              </a:rPr>
              <a:t>OBJETIVO GENERAL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924225" y="2468933"/>
            <a:ext cx="9293716" cy="8305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6436"/>
              </a:lnSpc>
            </a:pPr>
            <a:r>
              <a:rPr lang="en-US" b="true" sz="5501">
                <a:solidFill>
                  <a:srgbClr val="193682"/>
                </a:solidFill>
                <a:latin typeface="Inter Bold"/>
                <a:ea typeface="Inter Bold"/>
                <a:cs typeface="Inter Bold"/>
                <a:sym typeface="Inter Bold"/>
              </a:rPr>
              <a:t>Nuestra Visión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F8FDFF">
                <a:alpha val="100000"/>
              </a:srgbClr>
            </a:gs>
            <a:gs pos="100000">
              <a:srgbClr val="EFFAFF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7718068">
            <a:off x="15472226" y="-565006"/>
            <a:ext cx="3097973" cy="3097973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5649609" y="8814356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69"/>
                </a:lnTo>
                <a:lnTo>
                  <a:pt x="0" y="2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-84933">
            <a:off x="13948544" y="991570"/>
            <a:ext cx="622170" cy="62217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AutoShape 9" id="9"/>
          <p:cNvSpPr/>
          <p:nvPr/>
        </p:nvSpPr>
        <p:spPr>
          <a:xfrm>
            <a:off x="9619564" y="5550482"/>
            <a:ext cx="5463367" cy="0"/>
          </a:xfrm>
          <a:prstGeom prst="line">
            <a:avLst/>
          </a:prstGeom>
          <a:ln cap="flat" w="19050">
            <a:gradFill>
              <a:gsLst>
                <a:gs pos="0">
                  <a:srgbClr val="E88B7B">
                    <a:alpha val="100000"/>
                  </a:srgbClr>
                </a:gs>
                <a:gs pos="50000">
                  <a:srgbClr val="E26655">
                    <a:alpha val="100000"/>
                  </a:srgbClr>
                </a:gs>
                <a:gs pos="100000">
                  <a:srgbClr val="B44433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10" id="10"/>
          <p:cNvSpPr/>
          <p:nvPr/>
        </p:nvSpPr>
        <p:spPr>
          <a:xfrm>
            <a:off x="9619564" y="6208196"/>
            <a:ext cx="5463367" cy="0"/>
          </a:xfrm>
          <a:prstGeom prst="line">
            <a:avLst/>
          </a:prstGeom>
          <a:ln cap="flat" w="19050">
            <a:gradFill>
              <a:gsLst>
                <a:gs pos="0">
                  <a:srgbClr val="E88B7B">
                    <a:alpha val="100000"/>
                  </a:srgbClr>
                </a:gs>
                <a:gs pos="50000">
                  <a:srgbClr val="E26655">
                    <a:alpha val="100000"/>
                  </a:srgbClr>
                </a:gs>
                <a:gs pos="100000">
                  <a:srgbClr val="B44433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>
            <a:off x="9619564" y="6865910"/>
            <a:ext cx="5463367" cy="0"/>
          </a:xfrm>
          <a:prstGeom prst="line">
            <a:avLst/>
          </a:prstGeom>
          <a:ln cap="flat" w="19050">
            <a:gradFill>
              <a:gsLst>
                <a:gs pos="0">
                  <a:srgbClr val="E88B7B">
                    <a:alpha val="100000"/>
                  </a:srgbClr>
                </a:gs>
                <a:gs pos="50000">
                  <a:srgbClr val="E26655">
                    <a:alpha val="100000"/>
                  </a:srgbClr>
                </a:gs>
                <a:gs pos="100000">
                  <a:srgbClr val="B44433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9619564" y="7523624"/>
            <a:ext cx="5463367" cy="0"/>
          </a:xfrm>
          <a:prstGeom prst="line">
            <a:avLst/>
          </a:prstGeom>
          <a:ln cap="flat" w="19050">
            <a:gradFill>
              <a:gsLst>
                <a:gs pos="0">
                  <a:srgbClr val="E88B7B">
                    <a:alpha val="100000"/>
                  </a:srgbClr>
                </a:gs>
                <a:gs pos="50000">
                  <a:srgbClr val="E26655">
                    <a:alpha val="100000"/>
                  </a:srgbClr>
                </a:gs>
                <a:gs pos="100000">
                  <a:srgbClr val="B44433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Freeform 13" id="13"/>
          <p:cNvSpPr/>
          <p:nvPr/>
        </p:nvSpPr>
        <p:spPr>
          <a:xfrm flipH="false" flipV="false" rot="0">
            <a:off x="-392612" y="374775"/>
            <a:ext cx="10848892" cy="10284409"/>
          </a:xfrm>
          <a:custGeom>
            <a:avLst/>
            <a:gdLst/>
            <a:ahLst/>
            <a:cxnLst/>
            <a:rect r="r" b="b" t="t" l="l"/>
            <a:pathLst>
              <a:path h="10284409" w="10848892">
                <a:moveTo>
                  <a:pt x="0" y="0"/>
                </a:moveTo>
                <a:lnTo>
                  <a:pt x="10848892" y="0"/>
                </a:lnTo>
                <a:lnTo>
                  <a:pt x="10848892" y="10284409"/>
                </a:lnTo>
                <a:lnTo>
                  <a:pt x="0" y="1028440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56" t="0" r="-456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-1148012" y="-1501780"/>
            <a:ext cx="5738150" cy="5390383"/>
          </a:xfrm>
          <a:custGeom>
            <a:avLst/>
            <a:gdLst/>
            <a:ahLst/>
            <a:cxnLst/>
            <a:rect r="r" b="b" t="t" l="l"/>
            <a:pathLst>
              <a:path h="5390383" w="5738150">
                <a:moveTo>
                  <a:pt x="0" y="0"/>
                </a:moveTo>
                <a:lnTo>
                  <a:pt x="5738150" y="0"/>
                </a:lnTo>
                <a:lnTo>
                  <a:pt x="5738150" y="5390383"/>
                </a:lnTo>
                <a:lnTo>
                  <a:pt x="0" y="53903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9789699" y="3058785"/>
            <a:ext cx="5415546" cy="1669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52"/>
              </a:lnSpc>
            </a:pPr>
            <a:r>
              <a:rPr lang="en-US" sz="5600" b="true">
                <a:solidFill>
                  <a:srgbClr val="193682"/>
                </a:solidFill>
                <a:latin typeface="Inter Bold"/>
                <a:ea typeface="Inter Bold"/>
                <a:cs typeface="Inter Bold"/>
                <a:sym typeface="Inter Bold"/>
              </a:rPr>
              <a:t> Desarrollo Ágil con Scrum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789699" y="5105400"/>
            <a:ext cx="723151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0209" indent="-205105" lvl="1">
              <a:lnSpc>
                <a:spcPts val="2659"/>
              </a:lnSpc>
              <a:spcBef>
                <a:spcPct val="0"/>
              </a:spcBef>
              <a:buFont typeface="Arial"/>
              <a:buChar char="•"/>
            </a:pPr>
            <a:r>
              <a:rPr lang="en-US" sz="1899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Organización en Sprints (Ciclos de 2 semanas)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789699" y="5720159"/>
            <a:ext cx="723151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0209" indent="-205105" lvl="1">
              <a:lnSpc>
                <a:spcPts val="2659"/>
              </a:lnSpc>
              <a:spcBef>
                <a:spcPct val="0"/>
              </a:spcBef>
              <a:buFont typeface="Arial"/>
              <a:buChar char="•"/>
            </a:pPr>
            <a:r>
              <a:rPr lang="en-US" sz="1899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Desarrollo modular basado en Épicas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789699" y="6334918"/>
            <a:ext cx="723151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0209" indent="-205105" lvl="1">
              <a:lnSpc>
                <a:spcPts val="2659"/>
              </a:lnSpc>
              <a:spcBef>
                <a:spcPct val="0"/>
              </a:spcBef>
              <a:buFont typeface="Arial"/>
              <a:buChar char="•"/>
            </a:pPr>
            <a:r>
              <a:rPr lang="en-US" sz="1899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Entregas incrementales y funcionales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789699" y="6949677"/>
            <a:ext cx="723151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0209" indent="-205105" lvl="1">
              <a:lnSpc>
                <a:spcPts val="2659"/>
              </a:lnSpc>
              <a:spcBef>
                <a:spcPct val="0"/>
              </a:spcBef>
              <a:buFont typeface="Arial"/>
              <a:buChar char="•"/>
            </a:pPr>
            <a:r>
              <a:rPr lang="en-US" sz="1899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Priorización por Historias de Usuario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789699" y="7564436"/>
            <a:ext cx="723151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0209" indent="-205105" lvl="1">
              <a:lnSpc>
                <a:spcPts val="2659"/>
              </a:lnSpc>
              <a:spcBef>
                <a:spcPct val="0"/>
              </a:spcBef>
              <a:buFont typeface="Arial"/>
              <a:buChar char="•"/>
            </a:pPr>
            <a:r>
              <a:rPr lang="en-US" sz="1899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Adaptabilidad y mejora continua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789699" y="2491876"/>
            <a:ext cx="6423154" cy="490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3"/>
              </a:lnSpc>
            </a:pPr>
            <a:r>
              <a:rPr lang="en-US" sz="2802" spc="448">
                <a:solidFill>
                  <a:srgbClr val="C68817"/>
                </a:solidFill>
                <a:latin typeface="Inter"/>
                <a:ea typeface="Inter"/>
                <a:cs typeface="Inter"/>
                <a:sym typeface="Inter"/>
              </a:rPr>
              <a:t>METODOLOGÍA DE TRABAJO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9663281">
            <a:off x="13343777" y="6302467"/>
            <a:ext cx="5738150" cy="5390383"/>
          </a:xfrm>
          <a:custGeom>
            <a:avLst/>
            <a:gdLst/>
            <a:ahLst/>
            <a:cxnLst/>
            <a:rect r="r" b="b" t="t" l="l"/>
            <a:pathLst>
              <a:path h="5390383" w="5738150">
                <a:moveTo>
                  <a:pt x="0" y="0"/>
                </a:moveTo>
                <a:lnTo>
                  <a:pt x="5738150" y="0"/>
                </a:lnTo>
                <a:lnTo>
                  <a:pt x="5738150" y="5390383"/>
                </a:lnTo>
                <a:lnTo>
                  <a:pt x="0" y="53903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F8FDFF">
                <a:alpha val="100000"/>
              </a:srgbClr>
            </a:gs>
            <a:gs pos="100000">
              <a:srgbClr val="EFFAFF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537567" y="8169440"/>
            <a:ext cx="721733" cy="810936"/>
          </a:xfrm>
          <a:custGeom>
            <a:avLst/>
            <a:gdLst/>
            <a:ahLst/>
            <a:cxnLst/>
            <a:rect r="r" b="b" t="t" l="l"/>
            <a:pathLst>
              <a:path h="810936" w="721733">
                <a:moveTo>
                  <a:pt x="0" y="0"/>
                </a:moveTo>
                <a:lnTo>
                  <a:pt x="721733" y="0"/>
                </a:lnTo>
                <a:lnTo>
                  <a:pt x="721733" y="810936"/>
                </a:lnTo>
                <a:lnTo>
                  <a:pt x="0" y="8109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474355" y="1303865"/>
            <a:ext cx="578252" cy="649721"/>
          </a:xfrm>
          <a:custGeom>
            <a:avLst/>
            <a:gdLst/>
            <a:ahLst/>
            <a:cxnLst/>
            <a:rect r="r" b="b" t="t" l="l"/>
            <a:pathLst>
              <a:path h="649721" w="578252">
                <a:moveTo>
                  <a:pt x="0" y="0"/>
                </a:moveTo>
                <a:lnTo>
                  <a:pt x="578252" y="0"/>
                </a:lnTo>
                <a:lnTo>
                  <a:pt x="578252" y="649721"/>
                </a:lnTo>
                <a:lnTo>
                  <a:pt x="0" y="64972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034001" y="862797"/>
            <a:ext cx="492295" cy="553140"/>
          </a:xfrm>
          <a:custGeom>
            <a:avLst/>
            <a:gdLst/>
            <a:ahLst/>
            <a:cxnLst/>
            <a:rect r="r" b="b" t="t" l="l"/>
            <a:pathLst>
              <a:path h="553140" w="492295">
                <a:moveTo>
                  <a:pt x="0" y="0"/>
                </a:moveTo>
                <a:lnTo>
                  <a:pt x="492295" y="0"/>
                </a:lnTo>
                <a:lnTo>
                  <a:pt x="492295" y="553140"/>
                </a:lnTo>
                <a:lnTo>
                  <a:pt x="0" y="5531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714506" y="4160368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70"/>
                </a:lnTo>
                <a:lnTo>
                  <a:pt x="0" y="24551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-7718068">
            <a:off x="7974352" y="8660096"/>
            <a:ext cx="3313055" cy="3313055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-7718068">
            <a:off x="11459915" y="-1013808"/>
            <a:ext cx="2467179" cy="2467179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-7718068">
            <a:off x="8937890" y="274933"/>
            <a:ext cx="780916" cy="780916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-7718068">
            <a:off x="6362347" y="8758765"/>
            <a:ext cx="1056961" cy="1056961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5354136" y="-641129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70"/>
                </a:lnTo>
                <a:lnTo>
                  <a:pt x="0" y="24551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769534" y="9258300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69"/>
                </a:lnTo>
                <a:lnTo>
                  <a:pt x="0" y="2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7302639" y="2259896"/>
            <a:ext cx="12710050" cy="6046424"/>
          </a:xfrm>
          <a:custGeom>
            <a:avLst/>
            <a:gdLst/>
            <a:ahLst/>
            <a:cxnLst/>
            <a:rect r="r" b="b" t="t" l="l"/>
            <a:pathLst>
              <a:path h="6046424" w="12710050">
                <a:moveTo>
                  <a:pt x="0" y="0"/>
                </a:moveTo>
                <a:lnTo>
                  <a:pt x="12710051" y="0"/>
                </a:lnTo>
                <a:lnTo>
                  <a:pt x="12710051" y="6046425"/>
                </a:lnTo>
                <a:lnTo>
                  <a:pt x="0" y="604642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9833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504950" y="2514300"/>
            <a:ext cx="10201546" cy="840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52"/>
              </a:lnSpc>
            </a:pPr>
            <a:r>
              <a:rPr lang="en-US" sz="5600" b="true">
                <a:solidFill>
                  <a:srgbClr val="193682"/>
                </a:solidFill>
                <a:latin typeface="Inter Bold"/>
                <a:ea typeface="Inter Bold"/>
                <a:cs typeface="Inter Bold"/>
                <a:sym typeface="Inter Bold"/>
              </a:rPr>
              <a:t>Estructura del Sistema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504950" y="2014066"/>
            <a:ext cx="6423154" cy="490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3"/>
              </a:lnSpc>
            </a:pPr>
            <a:r>
              <a:rPr lang="en-US" sz="2802" spc="448">
                <a:solidFill>
                  <a:srgbClr val="C68817"/>
                </a:solidFill>
                <a:latin typeface="Inter"/>
                <a:ea typeface="Inter"/>
                <a:cs typeface="Inter"/>
                <a:sym typeface="Inter"/>
              </a:rPr>
              <a:t>ARQUITECTURA TÉCNICA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028700" y="3621486"/>
            <a:ext cx="7866788" cy="4547954"/>
            <a:chOff x="0" y="0"/>
            <a:chExt cx="10489051" cy="6063939"/>
          </a:xfrm>
        </p:grpSpPr>
        <p:sp>
          <p:nvSpPr>
            <p:cNvPr name="AutoShape 24" id="24"/>
            <p:cNvSpPr/>
            <p:nvPr/>
          </p:nvSpPr>
          <p:spPr>
            <a:xfrm>
              <a:off x="123568" y="1748777"/>
              <a:ext cx="9858287" cy="0"/>
            </a:xfrm>
            <a:prstGeom prst="line">
              <a:avLst/>
            </a:prstGeom>
            <a:ln cap="flat" w="25400">
              <a:gradFill>
                <a:gsLst>
                  <a:gs pos="0">
                    <a:srgbClr val="83ABEE">
                      <a:alpha val="100000"/>
                    </a:srgbClr>
                  </a:gs>
                  <a:gs pos="50000">
                    <a:srgbClr val="5D82E9">
                      <a:alpha val="100000"/>
                    </a:srgbClr>
                  </a:gs>
                  <a:gs pos="100000">
                    <a:srgbClr val="224198">
                      <a:alpha val="100000"/>
                    </a:srgbClr>
                  </a:gs>
                </a:gsLst>
                <a:lin ang="2700000"/>
              </a:gra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5" id="25"/>
            <p:cNvSpPr/>
            <p:nvPr/>
          </p:nvSpPr>
          <p:spPr>
            <a:xfrm>
              <a:off x="123568" y="615027"/>
              <a:ext cx="9782573" cy="25238"/>
            </a:xfrm>
            <a:prstGeom prst="line">
              <a:avLst/>
            </a:prstGeom>
            <a:ln cap="flat" w="25400">
              <a:gradFill>
                <a:gsLst>
                  <a:gs pos="0">
                    <a:srgbClr val="83ABEE">
                      <a:alpha val="100000"/>
                    </a:srgbClr>
                  </a:gs>
                  <a:gs pos="50000">
                    <a:srgbClr val="5D82E9">
                      <a:alpha val="100000"/>
                    </a:srgbClr>
                  </a:gs>
                  <a:gs pos="100000">
                    <a:srgbClr val="224198">
                      <a:alpha val="100000"/>
                    </a:srgbClr>
                  </a:gs>
                </a:gsLst>
                <a:lin ang="2700000"/>
              </a:gra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6" id="26"/>
            <p:cNvSpPr/>
            <p:nvPr/>
          </p:nvSpPr>
          <p:spPr>
            <a:xfrm>
              <a:off x="0" y="3435807"/>
              <a:ext cx="9757335" cy="0"/>
            </a:xfrm>
            <a:prstGeom prst="line">
              <a:avLst/>
            </a:prstGeom>
            <a:ln cap="flat" w="25400">
              <a:gradFill>
                <a:gsLst>
                  <a:gs pos="0">
                    <a:srgbClr val="83ABEE">
                      <a:alpha val="100000"/>
                    </a:srgbClr>
                  </a:gs>
                  <a:gs pos="50000">
                    <a:srgbClr val="5D82E9">
                      <a:alpha val="100000"/>
                    </a:srgbClr>
                  </a:gs>
                  <a:gs pos="100000">
                    <a:srgbClr val="224198">
                      <a:alpha val="100000"/>
                    </a:srgbClr>
                  </a:gs>
                </a:gsLst>
                <a:lin ang="2700000"/>
              </a:gra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7" id="27"/>
            <p:cNvSpPr/>
            <p:nvPr/>
          </p:nvSpPr>
          <p:spPr>
            <a:xfrm>
              <a:off x="123568" y="4605509"/>
              <a:ext cx="9858287" cy="0"/>
            </a:xfrm>
            <a:prstGeom prst="line">
              <a:avLst/>
            </a:prstGeom>
            <a:ln cap="flat" w="25400">
              <a:gradFill>
                <a:gsLst>
                  <a:gs pos="0">
                    <a:srgbClr val="83ABEE">
                      <a:alpha val="100000"/>
                    </a:srgbClr>
                  </a:gs>
                  <a:gs pos="50000">
                    <a:srgbClr val="5D82E9">
                      <a:alpha val="100000"/>
                    </a:srgbClr>
                  </a:gs>
                  <a:gs pos="100000">
                    <a:srgbClr val="224198">
                      <a:alpha val="100000"/>
                    </a:srgbClr>
                  </a:gs>
                </a:gsLst>
                <a:lin ang="2700000"/>
              </a:gra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8" id="28"/>
            <p:cNvSpPr/>
            <p:nvPr/>
          </p:nvSpPr>
          <p:spPr>
            <a:xfrm>
              <a:off x="0" y="6051239"/>
              <a:ext cx="9757335" cy="0"/>
            </a:xfrm>
            <a:prstGeom prst="line">
              <a:avLst/>
            </a:prstGeom>
            <a:ln cap="flat" w="25400">
              <a:gradFill>
                <a:gsLst>
                  <a:gs pos="0">
                    <a:srgbClr val="83ABEE">
                      <a:alpha val="100000"/>
                    </a:srgbClr>
                  </a:gs>
                  <a:gs pos="50000">
                    <a:srgbClr val="5D82E9">
                      <a:alpha val="100000"/>
                    </a:srgbClr>
                  </a:gs>
                  <a:gs pos="100000">
                    <a:srgbClr val="224198">
                      <a:alpha val="100000"/>
                    </a:srgbClr>
                  </a:gs>
                </a:gsLst>
                <a:lin ang="2700000"/>
              </a:gra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29" id="29"/>
            <p:cNvSpPr txBox="true"/>
            <p:nvPr/>
          </p:nvSpPr>
          <p:spPr>
            <a:xfrm rot="0">
              <a:off x="123568" y="922187"/>
              <a:ext cx="3525944" cy="4718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39"/>
                </a:lnSpc>
                <a:spcBef>
                  <a:spcPct val="0"/>
                </a:spcBef>
              </a:pPr>
              <a:r>
                <a:rPr lang="en-US" b="true" sz="2099">
                  <a:solidFill>
                    <a:srgbClr val="19368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Frontend Reactivo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3812861" y="731475"/>
              <a:ext cx="6676190" cy="86275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193682"/>
                  </a:solidFill>
                  <a:latin typeface="Inter"/>
                  <a:ea typeface="Inter"/>
                  <a:cs typeface="Inter"/>
                  <a:sym typeface="Inter"/>
                </a:rPr>
                <a:t>Interfaz construida en Vue.js (SPA) para una navegación rápida y fluida.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3649512" y="2001553"/>
              <a:ext cx="6347849" cy="130725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193682"/>
                  </a:solidFill>
                  <a:latin typeface="Inter"/>
                  <a:ea typeface="Inter"/>
                  <a:cs typeface="Inter"/>
                  <a:sym typeface="Inter"/>
                </a:rPr>
                <a:t>Conexión mediante REST API, intercambiando datos ligeros en formato JSON.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207799" y="2066158"/>
              <a:ext cx="3357483" cy="967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39"/>
                </a:lnSpc>
                <a:spcBef>
                  <a:spcPct val="0"/>
                </a:spcBef>
              </a:pPr>
              <a:r>
                <a:rPr lang="en-US" b="true" sz="2099">
                  <a:solidFill>
                    <a:srgbClr val="19368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Comunicación Eficiente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123568" y="-47625"/>
              <a:ext cx="3525944" cy="4718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39"/>
                </a:lnSpc>
                <a:spcBef>
                  <a:spcPct val="0"/>
                </a:spcBef>
              </a:pPr>
              <a:r>
                <a:rPr lang="en-US" b="true" sz="2099">
                  <a:solidFill>
                    <a:srgbClr val="19368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Puntos Clave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123568" y="3778918"/>
              <a:ext cx="3525944" cy="4718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39"/>
                </a:lnSpc>
                <a:spcBef>
                  <a:spcPct val="0"/>
                </a:spcBef>
              </a:pPr>
              <a:r>
                <a:rPr lang="en-US" b="true" sz="2099">
                  <a:solidFill>
                    <a:srgbClr val="19368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Backend Robusto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3812861" y="3588207"/>
              <a:ext cx="6676190" cy="86275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193682"/>
                  </a:solidFill>
                  <a:latin typeface="Inter"/>
                  <a:ea typeface="Inter"/>
                  <a:cs typeface="Inter"/>
                  <a:sym typeface="Inter"/>
                </a:rPr>
                <a:t>Lógica de negocio y seguridad gestionada por Django (Python).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3649512" y="4858285"/>
              <a:ext cx="6347849" cy="86275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193682"/>
                  </a:solidFill>
                  <a:latin typeface="Inter"/>
                  <a:ea typeface="Inter"/>
                  <a:cs typeface="Inter"/>
                  <a:sym typeface="Inter"/>
                </a:rPr>
                <a:t>Base de datos relacional PostgreSQL para máxima integridad de datos.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207799" y="4922890"/>
              <a:ext cx="3357483" cy="4718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39"/>
                </a:lnSpc>
                <a:spcBef>
                  <a:spcPct val="0"/>
                </a:spcBef>
              </a:pPr>
              <a:r>
                <a:rPr lang="en-US" b="true" sz="2099">
                  <a:solidFill>
                    <a:srgbClr val="19368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Persistencia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F8FDFF">
                <a:alpha val="100000"/>
              </a:srgbClr>
            </a:gs>
            <a:gs pos="100000">
              <a:srgbClr val="EFFAFF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925" y="7071587"/>
            <a:ext cx="721733" cy="810936"/>
          </a:xfrm>
          <a:custGeom>
            <a:avLst/>
            <a:gdLst/>
            <a:ahLst/>
            <a:cxnLst/>
            <a:rect r="r" b="b" t="t" l="l"/>
            <a:pathLst>
              <a:path h="810936" w="721733">
                <a:moveTo>
                  <a:pt x="0" y="0"/>
                </a:moveTo>
                <a:lnTo>
                  <a:pt x="721734" y="0"/>
                </a:lnTo>
                <a:lnTo>
                  <a:pt x="721734" y="810936"/>
                </a:lnTo>
                <a:lnTo>
                  <a:pt x="0" y="8109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69751" y="2344932"/>
            <a:ext cx="578252" cy="649721"/>
          </a:xfrm>
          <a:custGeom>
            <a:avLst/>
            <a:gdLst/>
            <a:ahLst/>
            <a:cxnLst/>
            <a:rect r="r" b="b" t="t" l="l"/>
            <a:pathLst>
              <a:path h="649721" w="578252">
                <a:moveTo>
                  <a:pt x="0" y="0"/>
                </a:moveTo>
                <a:lnTo>
                  <a:pt x="578251" y="0"/>
                </a:lnTo>
                <a:lnTo>
                  <a:pt x="578251" y="649721"/>
                </a:lnTo>
                <a:lnTo>
                  <a:pt x="0" y="64972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034001" y="862797"/>
            <a:ext cx="492295" cy="553140"/>
          </a:xfrm>
          <a:custGeom>
            <a:avLst/>
            <a:gdLst/>
            <a:ahLst/>
            <a:cxnLst/>
            <a:rect r="r" b="b" t="t" l="l"/>
            <a:pathLst>
              <a:path h="553140" w="492295">
                <a:moveTo>
                  <a:pt x="0" y="0"/>
                </a:moveTo>
                <a:lnTo>
                  <a:pt x="492295" y="0"/>
                </a:lnTo>
                <a:lnTo>
                  <a:pt x="492295" y="553140"/>
                </a:lnTo>
                <a:lnTo>
                  <a:pt x="0" y="5531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714506" y="4160368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70"/>
                </a:lnTo>
                <a:lnTo>
                  <a:pt x="0" y="24551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-7718068">
            <a:off x="5493" y="-853349"/>
            <a:ext cx="2467179" cy="2467179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-7718068">
            <a:off x="16889690" y="4402230"/>
            <a:ext cx="780916" cy="780916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5354136" y="-641129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70"/>
                </a:lnTo>
                <a:lnTo>
                  <a:pt x="0" y="24551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2769534" y="9258300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69"/>
                </a:lnTo>
                <a:lnTo>
                  <a:pt x="0" y="2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2538541" y="2114044"/>
            <a:ext cx="12489184" cy="7384230"/>
          </a:xfrm>
          <a:custGeom>
            <a:avLst/>
            <a:gdLst/>
            <a:ahLst/>
            <a:cxnLst/>
            <a:rect r="r" b="b" t="t" l="l"/>
            <a:pathLst>
              <a:path h="7384230" w="12489184">
                <a:moveTo>
                  <a:pt x="0" y="0"/>
                </a:moveTo>
                <a:lnTo>
                  <a:pt x="12489184" y="0"/>
                </a:lnTo>
                <a:lnTo>
                  <a:pt x="12489184" y="7384230"/>
                </a:lnTo>
                <a:lnTo>
                  <a:pt x="0" y="73842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8874204" y="1021848"/>
            <a:ext cx="10201546" cy="840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552"/>
              </a:lnSpc>
            </a:pPr>
            <a:r>
              <a:rPr lang="en-US" b="true" sz="5600">
                <a:solidFill>
                  <a:srgbClr val="193682"/>
                </a:solidFill>
                <a:latin typeface="Inter Bold"/>
                <a:ea typeface="Inter Bold"/>
                <a:cs typeface="Inter Bold"/>
                <a:sym typeface="Inter Bold"/>
              </a:rPr>
              <a:t>Base de datos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8874204" y="521614"/>
            <a:ext cx="6423154" cy="490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23"/>
              </a:lnSpc>
            </a:pPr>
            <a:r>
              <a:rPr lang="en-US" sz="2802" spc="448">
                <a:solidFill>
                  <a:srgbClr val="C68817"/>
                </a:solidFill>
                <a:latin typeface="Inter"/>
                <a:ea typeface="Inter"/>
                <a:cs typeface="Inter"/>
                <a:sym typeface="Inter"/>
              </a:rPr>
              <a:t>ARQUITECTURA TÉCNICA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F8FDFF">
                <a:alpha val="100000"/>
              </a:srgbClr>
            </a:gs>
            <a:gs pos="100000">
              <a:srgbClr val="EFFAFF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77925" y="7071587"/>
            <a:ext cx="721733" cy="810936"/>
          </a:xfrm>
          <a:custGeom>
            <a:avLst/>
            <a:gdLst/>
            <a:ahLst/>
            <a:cxnLst/>
            <a:rect r="r" b="b" t="t" l="l"/>
            <a:pathLst>
              <a:path h="810936" w="721733">
                <a:moveTo>
                  <a:pt x="0" y="0"/>
                </a:moveTo>
                <a:lnTo>
                  <a:pt x="721734" y="0"/>
                </a:lnTo>
                <a:lnTo>
                  <a:pt x="721734" y="810936"/>
                </a:lnTo>
                <a:lnTo>
                  <a:pt x="0" y="8109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369751" y="2344932"/>
            <a:ext cx="578252" cy="649721"/>
          </a:xfrm>
          <a:custGeom>
            <a:avLst/>
            <a:gdLst/>
            <a:ahLst/>
            <a:cxnLst/>
            <a:rect r="r" b="b" t="t" l="l"/>
            <a:pathLst>
              <a:path h="649721" w="578252">
                <a:moveTo>
                  <a:pt x="0" y="0"/>
                </a:moveTo>
                <a:lnTo>
                  <a:pt x="578251" y="0"/>
                </a:lnTo>
                <a:lnTo>
                  <a:pt x="578251" y="649721"/>
                </a:lnTo>
                <a:lnTo>
                  <a:pt x="0" y="64972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034001" y="862797"/>
            <a:ext cx="492295" cy="553140"/>
          </a:xfrm>
          <a:custGeom>
            <a:avLst/>
            <a:gdLst/>
            <a:ahLst/>
            <a:cxnLst/>
            <a:rect r="r" b="b" t="t" l="l"/>
            <a:pathLst>
              <a:path h="553140" w="492295">
                <a:moveTo>
                  <a:pt x="0" y="0"/>
                </a:moveTo>
                <a:lnTo>
                  <a:pt x="492295" y="0"/>
                </a:lnTo>
                <a:lnTo>
                  <a:pt x="492295" y="553140"/>
                </a:lnTo>
                <a:lnTo>
                  <a:pt x="0" y="5531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714506" y="4160368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70"/>
                </a:lnTo>
                <a:lnTo>
                  <a:pt x="0" y="24551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-7718068">
            <a:off x="5493" y="-853349"/>
            <a:ext cx="2467179" cy="2467179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-7718068">
            <a:off x="16889690" y="4402230"/>
            <a:ext cx="780916" cy="780916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5354136" y="-641129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70"/>
                </a:lnTo>
                <a:lnTo>
                  <a:pt x="0" y="24551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2769534" y="9258300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69"/>
                </a:lnTo>
                <a:lnTo>
                  <a:pt x="0" y="2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8211707" y="101511"/>
            <a:ext cx="6423154" cy="490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23"/>
              </a:lnSpc>
            </a:pPr>
            <a:r>
              <a:rPr lang="en-US" sz="2802" spc="448">
                <a:solidFill>
                  <a:srgbClr val="C68817"/>
                </a:solidFill>
                <a:latin typeface="Inter"/>
                <a:ea typeface="Inter"/>
                <a:cs typeface="Inter"/>
                <a:sym typeface="Inter"/>
              </a:rPr>
              <a:t>ARQUITECTURA TÉCNICA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323396" y="862797"/>
            <a:ext cx="8244346" cy="5915318"/>
          </a:xfrm>
          <a:custGeom>
            <a:avLst/>
            <a:gdLst/>
            <a:ahLst/>
            <a:cxnLst/>
            <a:rect r="r" b="b" t="t" l="l"/>
            <a:pathLst>
              <a:path h="5915318" w="8244346">
                <a:moveTo>
                  <a:pt x="0" y="0"/>
                </a:moveTo>
                <a:lnTo>
                  <a:pt x="8244345" y="0"/>
                </a:lnTo>
                <a:lnTo>
                  <a:pt x="8244345" y="5915318"/>
                </a:lnTo>
                <a:lnTo>
                  <a:pt x="0" y="59153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8985015" y="1163903"/>
            <a:ext cx="7329073" cy="4177572"/>
          </a:xfrm>
          <a:custGeom>
            <a:avLst/>
            <a:gdLst/>
            <a:ahLst/>
            <a:cxnLst/>
            <a:rect r="r" b="b" t="t" l="l"/>
            <a:pathLst>
              <a:path h="4177572" w="7329073">
                <a:moveTo>
                  <a:pt x="0" y="0"/>
                </a:moveTo>
                <a:lnTo>
                  <a:pt x="7329073" y="0"/>
                </a:lnTo>
                <a:lnTo>
                  <a:pt x="7329073" y="4177572"/>
                </a:lnTo>
                <a:lnTo>
                  <a:pt x="0" y="417757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8573743" y="5387953"/>
            <a:ext cx="8952553" cy="3536258"/>
          </a:xfrm>
          <a:custGeom>
            <a:avLst/>
            <a:gdLst/>
            <a:ahLst/>
            <a:cxnLst/>
            <a:rect r="r" b="b" t="t" l="l"/>
            <a:pathLst>
              <a:path h="3536258" w="8952553">
                <a:moveTo>
                  <a:pt x="0" y="0"/>
                </a:moveTo>
                <a:lnTo>
                  <a:pt x="8952553" y="0"/>
                </a:lnTo>
                <a:lnTo>
                  <a:pt x="8952553" y="3536258"/>
                </a:lnTo>
                <a:lnTo>
                  <a:pt x="0" y="35362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162152" y="1139367"/>
            <a:ext cx="729339" cy="754717"/>
            <a:chOff x="0" y="0"/>
            <a:chExt cx="812800" cy="84108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841082"/>
            </a:xfrm>
            <a:custGeom>
              <a:avLst/>
              <a:gdLst/>
              <a:ahLst/>
              <a:cxnLst/>
              <a:rect r="r" b="b" t="t" l="l"/>
              <a:pathLst>
                <a:path h="841082" w="812800">
                  <a:moveTo>
                    <a:pt x="406400" y="0"/>
                  </a:moveTo>
                  <a:cubicBezTo>
                    <a:pt x="181951" y="0"/>
                    <a:pt x="0" y="188283"/>
                    <a:pt x="0" y="420541"/>
                  </a:cubicBezTo>
                  <a:cubicBezTo>
                    <a:pt x="0" y="652799"/>
                    <a:pt x="181951" y="841082"/>
                    <a:pt x="406400" y="841082"/>
                  </a:cubicBezTo>
                  <a:cubicBezTo>
                    <a:pt x="630849" y="841082"/>
                    <a:pt x="812800" y="652799"/>
                    <a:pt x="812800" y="420541"/>
                  </a:cubicBezTo>
                  <a:cubicBezTo>
                    <a:pt x="812800" y="188283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50000">
                  <a:srgbClr val="F8FDFF">
                    <a:alpha val="100000"/>
                  </a:srgbClr>
                </a:gs>
                <a:gs pos="100000">
                  <a:srgbClr val="EFFAFF">
                    <a:alpha val="100000"/>
                  </a:srgbClr>
                </a:gs>
              </a:gsLst>
              <a:path path="circle">
                <a:fillToRect l="50000" r="50000" t="50000" b="50000"/>
              </a:path>
            </a:gradFill>
            <a:ln w="38100" cap="sq">
              <a:gradFill>
                <a:gsLst>
                  <a:gs pos="0">
                    <a:srgbClr val="83ABEE">
                      <a:alpha val="100000"/>
                    </a:srgbClr>
                  </a:gs>
                  <a:gs pos="50000">
                    <a:srgbClr val="5D82E9">
                      <a:alpha val="100000"/>
                    </a:srgbClr>
                  </a:gs>
                  <a:gs pos="100000">
                    <a:srgbClr val="224198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76200" y="40751"/>
              <a:ext cx="660400" cy="72147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19368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1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414661" y="1590215"/>
            <a:ext cx="729339" cy="754717"/>
            <a:chOff x="0" y="0"/>
            <a:chExt cx="812800" cy="84108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841082"/>
            </a:xfrm>
            <a:custGeom>
              <a:avLst/>
              <a:gdLst/>
              <a:ahLst/>
              <a:cxnLst/>
              <a:rect r="r" b="b" t="t" l="l"/>
              <a:pathLst>
                <a:path h="841082" w="812800">
                  <a:moveTo>
                    <a:pt x="406400" y="0"/>
                  </a:moveTo>
                  <a:cubicBezTo>
                    <a:pt x="181951" y="0"/>
                    <a:pt x="0" y="188283"/>
                    <a:pt x="0" y="420541"/>
                  </a:cubicBezTo>
                  <a:cubicBezTo>
                    <a:pt x="0" y="652799"/>
                    <a:pt x="181951" y="841082"/>
                    <a:pt x="406400" y="841082"/>
                  </a:cubicBezTo>
                  <a:cubicBezTo>
                    <a:pt x="630849" y="841082"/>
                    <a:pt x="812800" y="652799"/>
                    <a:pt x="812800" y="420541"/>
                  </a:cubicBezTo>
                  <a:cubicBezTo>
                    <a:pt x="812800" y="188283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50000">
                  <a:srgbClr val="F8FDFF">
                    <a:alpha val="100000"/>
                  </a:srgbClr>
                </a:gs>
                <a:gs pos="100000">
                  <a:srgbClr val="EFFAFF">
                    <a:alpha val="100000"/>
                  </a:srgbClr>
                </a:gs>
              </a:gsLst>
              <a:path path="circle">
                <a:fillToRect l="50000" r="50000" t="50000" b="50000"/>
              </a:path>
            </a:gradFill>
            <a:ln w="38100" cap="sq">
              <a:gradFill>
                <a:gsLst>
                  <a:gs pos="0">
                    <a:srgbClr val="83ABEE">
                      <a:alpha val="100000"/>
                    </a:srgbClr>
                  </a:gs>
                  <a:gs pos="50000">
                    <a:srgbClr val="5D82E9">
                      <a:alpha val="100000"/>
                    </a:srgbClr>
                  </a:gs>
                  <a:gs pos="100000">
                    <a:srgbClr val="224198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76200" y="40751"/>
              <a:ext cx="660400" cy="72147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19368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2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8414661" y="6341600"/>
            <a:ext cx="729339" cy="754717"/>
            <a:chOff x="0" y="0"/>
            <a:chExt cx="812800" cy="84108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41082"/>
            </a:xfrm>
            <a:custGeom>
              <a:avLst/>
              <a:gdLst/>
              <a:ahLst/>
              <a:cxnLst/>
              <a:rect r="r" b="b" t="t" l="l"/>
              <a:pathLst>
                <a:path h="841082" w="812800">
                  <a:moveTo>
                    <a:pt x="406400" y="0"/>
                  </a:moveTo>
                  <a:cubicBezTo>
                    <a:pt x="181951" y="0"/>
                    <a:pt x="0" y="188283"/>
                    <a:pt x="0" y="420541"/>
                  </a:cubicBezTo>
                  <a:cubicBezTo>
                    <a:pt x="0" y="652799"/>
                    <a:pt x="181951" y="841082"/>
                    <a:pt x="406400" y="841082"/>
                  </a:cubicBezTo>
                  <a:cubicBezTo>
                    <a:pt x="630849" y="841082"/>
                    <a:pt x="812800" y="652799"/>
                    <a:pt x="812800" y="420541"/>
                  </a:cubicBezTo>
                  <a:cubicBezTo>
                    <a:pt x="812800" y="188283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50000">
                  <a:srgbClr val="F8FDFF">
                    <a:alpha val="100000"/>
                  </a:srgbClr>
                </a:gs>
                <a:gs pos="100000">
                  <a:srgbClr val="EFFAFF">
                    <a:alpha val="100000"/>
                  </a:srgbClr>
                </a:gs>
              </a:gsLst>
              <a:path path="circle">
                <a:fillToRect l="50000" r="50000" t="50000" b="50000"/>
              </a:path>
            </a:gradFill>
            <a:ln w="38100" cap="sq">
              <a:gradFill>
                <a:gsLst>
                  <a:gs pos="0">
                    <a:srgbClr val="83ABEE">
                      <a:alpha val="100000"/>
                    </a:srgbClr>
                  </a:gs>
                  <a:gs pos="50000">
                    <a:srgbClr val="5D82E9">
                      <a:alpha val="100000"/>
                    </a:srgbClr>
                  </a:gs>
                  <a:gs pos="100000">
                    <a:srgbClr val="224198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76200" y="40751"/>
              <a:ext cx="660400" cy="72147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  <a:r>
                <a:rPr lang="en-US" b="true" sz="1899">
                  <a:solidFill>
                    <a:srgbClr val="193682"/>
                  </a:solidFill>
                  <a:latin typeface="Inter Bold"/>
                  <a:ea typeface="Inter Bold"/>
                  <a:cs typeface="Inter Bold"/>
                  <a:sym typeface="Inter Bold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F8FDFF">
                <a:alpha val="100000"/>
              </a:srgbClr>
            </a:gs>
            <a:gs pos="100000">
              <a:srgbClr val="EFFAFF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537567" y="7805798"/>
            <a:ext cx="721733" cy="810936"/>
          </a:xfrm>
          <a:custGeom>
            <a:avLst/>
            <a:gdLst/>
            <a:ahLst/>
            <a:cxnLst/>
            <a:rect r="r" b="b" t="t" l="l"/>
            <a:pathLst>
              <a:path h="810936" w="721733">
                <a:moveTo>
                  <a:pt x="0" y="0"/>
                </a:moveTo>
                <a:lnTo>
                  <a:pt x="721733" y="0"/>
                </a:lnTo>
                <a:lnTo>
                  <a:pt x="721733" y="810936"/>
                </a:lnTo>
                <a:lnTo>
                  <a:pt x="0" y="8109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474355" y="1303865"/>
            <a:ext cx="578252" cy="649721"/>
          </a:xfrm>
          <a:custGeom>
            <a:avLst/>
            <a:gdLst/>
            <a:ahLst/>
            <a:cxnLst/>
            <a:rect r="r" b="b" t="t" l="l"/>
            <a:pathLst>
              <a:path h="649721" w="578252">
                <a:moveTo>
                  <a:pt x="0" y="0"/>
                </a:moveTo>
                <a:lnTo>
                  <a:pt x="578252" y="0"/>
                </a:lnTo>
                <a:lnTo>
                  <a:pt x="578252" y="649721"/>
                </a:lnTo>
                <a:lnTo>
                  <a:pt x="0" y="64972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034001" y="862797"/>
            <a:ext cx="492295" cy="553140"/>
          </a:xfrm>
          <a:custGeom>
            <a:avLst/>
            <a:gdLst/>
            <a:ahLst/>
            <a:cxnLst/>
            <a:rect r="r" b="b" t="t" l="l"/>
            <a:pathLst>
              <a:path h="553140" w="492295">
                <a:moveTo>
                  <a:pt x="0" y="0"/>
                </a:moveTo>
                <a:lnTo>
                  <a:pt x="492295" y="0"/>
                </a:lnTo>
                <a:lnTo>
                  <a:pt x="492295" y="553140"/>
                </a:lnTo>
                <a:lnTo>
                  <a:pt x="0" y="5531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695456" y="3846148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69"/>
                </a:lnTo>
                <a:lnTo>
                  <a:pt x="0" y="2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1380819">
            <a:off x="-3517409" y="6070515"/>
            <a:ext cx="7543483" cy="7128591"/>
          </a:xfrm>
          <a:custGeom>
            <a:avLst/>
            <a:gdLst/>
            <a:ahLst/>
            <a:cxnLst/>
            <a:rect r="r" b="b" t="t" l="l"/>
            <a:pathLst>
              <a:path h="7128591" w="7543483">
                <a:moveTo>
                  <a:pt x="0" y="0"/>
                </a:moveTo>
                <a:lnTo>
                  <a:pt x="7543483" y="0"/>
                </a:lnTo>
                <a:lnTo>
                  <a:pt x="7543483" y="7128592"/>
                </a:lnTo>
                <a:lnTo>
                  <a:pt x="0" y="712859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-7718068">
            <a:off x="7974352" y="8660096"/>
            <a:ext cx="3313055" cy="3313055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9" id="9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-7718068">
            <a:off x="-127391" y="4792271"/>
            <a:ext cx="2734676" cy="2620153"/>
            <a:chOff x="0" y="0"/>
            <a:chExt cx="848326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48326" cy="812800"/>
            </a:xfrm>
            <a:custGeom>
              <a:avLst/>
              <a:gdLst/>
              <a:ahLst/>
              <a:cxnLst/>
              <a:rect r="r" b="b" t="t" l="l"/>
              <a:pathLst>
                <a:path h="812800" w="848326">
                  <a:moveTo>
                    <a:pt x="424163" y="0"/>
                  </a:moveTo>
                  <a:cubicBezTo>
                    <a:pt x="189904" y="0"/>
                    <a:pt x="0" y="181951"/>
                    <a:pt x="0" y="406400"/>
                  </a:cubicBezTo>
                  <a:cubicBezTo>
                    <a:pt x="0" y="630849"/>
                    <a:pt x="189904" y="812800"/>
                    <a:pt x="424163" y="812800"/>
                  </a:cubicBezTo>
                  <a:cubicBezTo>
                    <a:pt x="658422" y="812800"/>
                    <a:pt x="848326" y="630849"/>
                    <a:pt x="848326" y="406400"/>
                  </a:cubicBezTo>
                  <a:cubicBezTo>
                    <a:pt x="848326" y="181951"/>
                    <a:pt x="658422" y="0"/>
                    <a:pt x="424163" y="0"/>
                  </a:cubicBezTo>
                  <a:close/>
                </a:path>
              </a:pathLst>
            </a:custGeom>
            <a:solidFill>
              <a:srgbClr val="5C86C8">
                <a:alpha val="83922"/>
              </a:srgbClr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79531" y="38100"/>
              <a:ext cx="689265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-7718068">
            <a:off x="8937890" y="274933"/>
            <a:ext cx="780916" cy="780916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5" id="1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-7718068">
            <a:off x="6362347" y="8758765"/>
            <a:ext cx="1056961" cy="1056961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5354136" y="-641129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70"/>
                </a:lnTo>
                <a:lnTo>
                  <a:pt x="0" y="24551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2769534" y="9258300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69"/>
                </a:lnTo>
                <a:lnTo>
                  <a:pt x="0" y="2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198787" y="3016330"/>
            <a:ext cx="4721222" cy="1669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52"/>
              </a:lnSpc>
            </a:pPr>
            <a:r>
              <a:rPr lang="en-US" sz="5600" b="true">
                <a:solidFill>
                  <a:srgbClr val="193682"/>
                </a:solidFill>
                <a:latin typeface="Inter Bold"/>
                <a:ea typeface="Inter Bold"/>
                <a:cs typeface="Inter Bold"/>
                <a:sym typeface="Inter Bold"/>
              </a:rPr>
              <a:t>Gestión de Inventario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98787" y="2020722"/>
            <a:ext cx="3637067" cy="9860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3"/>
              </a:lnSpc>
            </a:pPr>
            <a:r>
              <a:rPr lang="en-US" sz="2802" spc="448">
                <a:solidFill>
                  <a:srgbClr val="C68817"/>
                </a:solidFill>
                <a:latin typeface="Inter"/>
                <a:ea typeface="Inter"/>
                <a:cs typeface="Inter"/>
                <a:sym typeface="Inter"/>
              </a:rPr>
              <a:t>(CRUD &amp; IMPORTACIÓN)</a:t>
            </a:r>
          </a:p>
        </p:txBody>
      </p:sp>
      <p:grpSp>
        <p:nvGrpSpPr>
          <p:cNvPr name="Group 23" id="23"/>
          <p:cNvGrpSpPr>
            <a:grpSpLocks noChangeAspect="true"/>
          </p:cNvGrpSpPr>
          <p:nvPr/>
        </p:nvGrpSpPr>
        <p:grpSpPr>
          <a:xfrm rot="0">
            <a:off x="4716527" y="2292758"/>
            <a:ext cx="13046281" cy="7483189"/>
            <a:chOff x="0" y="0"/>
            <a:chExt cx="7981950" cy="457835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765810" y="21590"/>
              <a:ext cx="6451600" cy="4326890"/>
            </a:xfrm>
            <a:custGeom>
              <a:avLst/>
              <a:gdLst/>
              <a:ahLst/>
              <a:cxnLst/>
              <a:rect r="r" b="b" t="t" l="l"/>
              <a:pathLst>
                <a:path h="4326890" w="645160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01039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981950" cy="4542790"/>
            </a:xfrm>
            <a:custGeom>
              <a:avLst/>
              <a:gdLst/>
              <a:ahLst/>
              <a:cxnLst/>
              <a:rect r="r" b="b" t="t" l="l"/>
              <a:pathLst>
                <a:path h="4542790" w="798195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3460750" y="4349750"/>
              <a:ext cx="1059180" cy="96520"/>
            </a:xfrm>
            <a:custGeom>
              <a:avLst/>
              <a:gdLst/>
              <a:ahLst/>
              <a:cxnLst/>
              <a:rect r="r" b="b" t="t" l="l"/>
              <a:pathLst>
                <a:path h="96520" w="105918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302F2C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163830" y="4542790"/>
              <a:ext cx="7654290" cy="35560"/>
            </a:xfrm>
            <a:custGeom>
              <a:avLst/>
              <a:gdLst/>
              <a:ahLst/>
              <a:cxnLst/>
              <a:rect r="r" b="b" t="t" l="l"/>
              <a:pathLst>
                <a:path h="35560" w="765429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302F2C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962660" y="276860"/>
              <a:ext cx="6055360" cy="3789680"/>
            </a:xfrm>
            <a:custGeom>
              <a:avLst/>
              <a:gdLst/>
              <a:ahLst/>
              <a:cxnLst/>
              <a:rect r="r" b="b" t="t" l="l"/>
              <a:pathLst>
                <a:path h="3789680" w="6055360">
                  <a:moveTo>
                    <a:pt x="0" y="0"/>
                  </a:moveTo>
                  <a:lnTo>
                    <a:pt x="6055360" y="0"/>
                  </a:lnTo>
                  <a:lnTo>
                    <a:pt x="6055360" y="3789680"/>
                  </a:lnTo>
                  <a:lnTo>
                    <a:pt x="0" y="3789680"/>
                  </a:lnTo>
                  <a:close/>
                </a:path>
              </a:pathLst>
            </a:custGeom>
            <a:blipFill>
              <a:blip r:embed="rId6"/>
              <a:stretch>
                <a:fillRect l="-22043" t="0" r="-22043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7876798" y="8346770"/>
            <a:ext cx="6725739" cy="773757"/>
            <a:chOff x="0" y="0"/>
            <a:chExt cx="1771388" cy="20378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771388" cy="203788"/>
            </a:xfrm>
            <a:custGeom>
              <a:avLst/>
              <a:gdLst/>
              <a:ahLst/>
              <a:cxnLst/>
              <a:rect r="r" b="b" t="t" l="l"/>
              <a:pathLst>
                <a:path h="203788" w="1771388">
                  <a:moveTo>
                    <a:pt x="101894" y="0"/>
                  </a:moveTo>
                  <a:lnTo>
                    <a:pt x="1669494" y="0"/>
                  </a:lnTo>
                  <a:cubicBezTo>
                    <a:pt x="1696518" y="0"/>
                    <a:pt x="1722435" y="10735"/>
                    <a:pt x="1741544" y="29844"/>
                  </a:cubicBezTo>
                  <a:cubicBezTo>
                    <a:pt x="1760653" y="48953"/>
                    <a:pt x="1771388" y="74870"/>
                    <a:pt x="1771388" y="101894"/>
                  </a:cubicBezTo>
                  <a:lnTo>
                    <a:pt x="1771388" y="101894"/>
                  </a:lnTo>
                  <a:cubicBezTo>
                    <a:pt x="1771388" y="158168"/>
                    <a:pt x="1725769" y="203788"/>
                    <a:pt x="1669494" y="203788"/>
                  </a:cubicBezTo>
                  <a:lnTo>
                    <a:pt x="101894" y="203788"/>
                  </a:lnTo>
                  <a:cubicBezTo>
                    <a:pt x="74870" y="203788"/>
                    <a:pt x="48953" y="193053"/>
                    <a:pt x="29844" y="173944"/>
                  </a:cubicBezTo>
                  <a:cubicBezTo>
                    <a:pt x="10735" y="154835"/>
                    <a:pt x="0" y="128918"/>
                    <a:pt x="0" y="101894"/>
                  </a:cubicBezTo>
                  <a:lnTo>
                    <a:pt x="0" y="101894"/>
                  </a:lnTo>
                  <a:cubicBezTo>
                    <a:pt x="0" y="74870"/>
                    <a:pt x="10735" y="48953"/>
                    <a:pt x="29844" y="29844"/>
                  </a:cubicBezTo>
                  <a:cubicBezTo>
                    <a:pt x="48953" y="10735"/>
                    <a:pt x="74870" y="0"/>
                    <a:pt x="10189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7C61D">
                    <a:alpha val="100000"/>
                  </a:srgbClr>
                </a:gs>
                <a:gs pos="50000">
                  <a:srgbClr val="CEA20B">
                    <a:alpha val="100000"/>
                  </a:srgbClr>
                </a:gs>
                <a:gs pos="100000">
                  <a:srgbClr val="D39505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1771388" cy="2418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  <a:r>
                <a:rPr lang="en-US" b="true" sz="2199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Facilidad para digitalizar el stock en segundos</a:t>
              </a:r>
            </a:p>
          </p:txBody>
        </p:sp>
      </p:grpSp>
      <p:sp>
        <p:nvSpPr>
          <p:cNvPr name="Freeform 32" id="32"/>
          <p:cNvSpPr/>
          <p:nvPr/>
        </p:nvSpPr>
        <p:spPr>
          <a:xfrm flipH="false" flipV="false" rot="0">
            <a:off x="1480843" y="5977402"/>
            <a:ext cx="3638507" cy="3656791"/>
          </a:xfrm>
          <a:custGeom>
            <a:avLst/>
            <a:gdLst/>
            <a:ahLst/>
            <a:cxnLst/>
            <a:rect r="r" b="b" t="t" l="l"/>
            <a:pathLst>
              <a:path h="3656791" w="3638507">
                <a:moveTo>
                  <a:pt x="0" y="0"/>
                </a:moveTo>
                <a:lnTo>
                  <a:pt x="3638507" y="0"/>
                </a:lnTo>
                <a:lnTo>
                  <a:pt x="3638507" y="3656791"/>
                </a:lnTo>
                <a:lnTo>
                  <a:pt x="0" y="36567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F8FDFF">
                <a:alpha val="100000"/>
              </a:srgbClr>
            </a:gs>
            <a:gs pos="100000">
              <a:srgbClr val="EFFAFF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537567" y="7805798"/>
            <a:ext cx="721733" cy="810936"/>
          </a:xfrm>
          <a:custGeom>
            <a:avLst/>
            <a:gdLst/>
            <a:ahLst/>
            <a:cxnLst/>
            <a:rect r="r" b="b" t="t" l="l"/>
            <a:pathLst>
              <a:path h="810936" w="721733">
                <a:moveTo>
                  <a:pt x="0" y="0"/>
                </a:moveTo>
                <a:lnTo>
                  <a:pt x="721733" y="0"/>
                </a:lnTo>
                <a:lnTo>
                  <a:pt x="721733" y="810936"/>
                </a:lnTo>
                <a:lnTo>
                  <a:pt x="0" y="8109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474355" y="1303865"/>
            <a:ext cx="578252" cy="649721"/>
          </a:xfrm>
          <a:custGeom>
            <a:avLst/>
            <a:gdLst/>
            <a:ahLst/>
            <a:cxnLst/>
            <a:rect r="r" b="b" t="t" l="l"/>
            <a:pathLst>
              <a:path h="649721" w="578252">
                <a:moveTo>
                  <a:pt x="0" y="0"/>
                </a:moveTo>
                <a:lnTo>
                  <a:pt x="578252" y="0"/>
                </a:lnTo>
                <a:lnTo>
                  <a:pt x="578252" y="649721"/>
                </a:lnTo>
                <a:lnTo>
                  <a:pt x="0" y="64972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034001" y="862797"/>
            <a:ext cx="492295" cy="553140"/>
          </a:xfrm>
          <a:custGeom>
            <a:avLst/>
            <a:gdLst/>
            <a:ahLst/>
            <a:cxnLst/>
            <a:rect r="r" b="b" t="t" l="l"/>
            <a:pathLst>
              <a:path h="553140" w="492295">
                <a:moveTo>
                  <a:pt x="0" y="0"/>
                </a:moveTo>
                <a:lnTo>
                  <a:pt x="492295" y="0"/>
                </a:lnTo>
                <a:lnTo>
                  <a:pt x="492295" y="553140"/>
                </a:lnTo>
                <a:lnTo>
                  <a:pt x="0" y="5531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695456" y="3846148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69"/>
                </a:lnTo>
                <a:lnTo>
                  <a:pt x="0" y="2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1380819">
            <a:off x="-3517409" y="6070515"/>
            <a:ext cx="7543483" cy="7128591"/>
          </a:xfrm>
          <a:custGeom>
            <a:avLst/>
            <a:gdLst/>
            <a:ahLst/>
            <a:cxnLst/>
            <a:rect r="r" b="b" t="t" l="l"/>
            <a:pathLst>
              <a:path h="7128591" w="7543483">
                <a:moveTo>
                  <a:pt x="0" y="0"/>
                </a:moveTo>
                <a:lnTo>
                  <a:pt x="7543483" y="0"/>
                </a:lnTo>
                <a:lnTo>
                  <a:pt x="7543483" y="7128592"/>
                </a:lnTo>
                <a:lnTo>
                  <a:pt x="0" y="712859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-7718068">
            <a:off x="7974352" y="8660096"/>
            <a:ext cx="3313055" cy="3313055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9" id="9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-7718068">
            <a:off x="11459915" y="-1013808"/>
            <a:ext cx="2467179" cy="2467179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-7718068">
            <a:off x="8937890" y="274933"/>
            <a:ext cx="780916" cy="780916"/>
            <a:chOff x="0" y="0"/>
            <a:chExt cx="812800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5" id="1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-7718068">
            <a:off x="6362347" y="8758765"/>
            <a:ext cx="1056961" cy="1056961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5354136" y="-641129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70"/>
                </a:lnTo>
                <a:lnTo>
                  <a:pt x="0" y="24551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2769534" y="9258300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69"/>
                </a:lnTo>
                <a:lnTo>
                  <a:pt x="0" y="2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198787" y="3016330"/>
            <a:ext cx="4721222" cy="1669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52"/>
              </a:lnSpc>
            </a:pPr>
            <a:r>
              <a:rPr lang="en-US" sz="5600" b="true">
                <a:solidFill>
                  <a:srgbClr val="193682"/>
                </a:solidFill>
                <a:latin typeface="Inter Bold"/>
                <a:ea typeface="Inter Bold"/>
                <a:cs typeface="Inter Bold"/>
                <a:sym typeface="Inter Bold"/>
              </a:rPr>
              <a:t>Dashboard e Indicadores</a:t>
            </a:r>
          </a:p>
        </p:txBody>
      </p:sp>
      <p:grpSp>
        <p:nvGrpSpPr>
          <p:cNvPr name="Group 22" id="22"/>
          <p:cNvGrpSpPr>
            <a:grpSpLocks noChangeAspect="true"/>
          </p:cNvGrpSpPr>
          <p:nvPr/>
        </p:nvGrpSpPr>
        <p:grpSpPr>
          <a:xfrm rot="0">
            <a:off x="4716527" y="2292758"/>
            <a:ext cx="13046281" cy="7483189"/>
            <a:chOff x="0" y="0"/>
            <a:chExt cx="7981950" cy="457835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765810" y="21590"/>
              <a:ext cx="6451600" cy="4326890"/>
            </a:xfrm>
            <a:custGeom>
              <a:avLst/>
              <a:gdLst/>
              <a:ahLst/>
              <a:cxnLst/>
              <a:rect r="r" b="b" t="t" l="l"/>
              <a:pathLst>
                <a:path h="4326890" w="645160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01039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7981950" cy="4542790"/>
            </a:xfrm>
            <a:custGeom>
              <a:avLst/>
              <a:gdLst/>
              <a:ahLst/>
              <a:cxnLst/>
              <a:rect r="r" b="b" t="t" l="l"/>
              <a:pathLst>
                <a:path h="4542790" w="798195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3460750" y="4349750"/>
              <a:ext cx="1059180" cy="96520"/>
            </a:xfrm>
            <a:custGeom>
              <a:avLst/>
              <a:gdLst/>
              <a:ahLst/>
              <a:cxnLst/>
              <a:rect r="r" b="b" t="t" l="l"/>
              <a:pathLst>
                <a:path h="96520" w="105918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302F2C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163830" y="4542790"/>
              <a:ext cx="7654290" cy="35560"/>
            </a:xfrm>
            <a:custGeom>
              <a:avLst/>
              <a:gdLst/>
              <a:ahLst/>
              <a:cxnLst/>
              <a:rect r="r" b="b" t="t" l="l"/>
              <a:pathLst>
                <a:path h="35560" w="765429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302F2C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962660" y="276860"/>
              <a:ext cx="6055360" cy="3789680"/>
            </a:xfrm>
            <a:custGeom>
              <a:avLst/>
              <a:gdLst/>
              <a:ahLst/>
              <a:cxnLst/>
              <a:rect r="r" b="b" t="t" l="l"/>
              <a:pathLst>
                <a:path h="3789680" w="6055360">
                  <a:moveTo>
                    <a:pt x="0" y="0"/>
                  </a:moveTo>
                  <a:lnTo>
                    <a:pt x="6055360" y="0"/>
                  </a:lnTo>
                  <a:lnTo>
                    <a:pt x="6055360" y="3789680"/>
                  </a:lnTo>
                  <a:lnTo>
                    <a:pt x="0" y="3789680"/>
                  </a:lnTo>
                  <a:close/>
                </a:path>
              </a:pathLst>
            </a:custGeom>
            <a:blipFill>
              <a:blip r:embed="rId6"/>
              <a:stretch>
                <a:fillRect l="-25155" t="0" r="-25155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7876798" y="8346770"/>
            <a:ext cx="6725739" cy="773757"/>
            <a:chOff x="0" y="0"/>
            <a:chExt cx="1771388" cy="20378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771388" cy="203788"/>
            </a:xfrm>
            <a:custGeom>
              <a:avLst/>
              <a:gdLst/>
              <a:ahLst/>
              <a:cxnLst/>
              <a:rect r="r" b="b" t="t" l="l"/>
              <a:pathLst>
                <a:path h="203788" w="1771388">
                  <a:moveTo>
                    <a:pt x="101894" y="0"/>
                  </a:moveTo>
                  <a:lnTo>
                    <a:pt x="1669494" y="0"/>
                  </a:lnTo>
                  <a:cubicBezTo>
                    <a:pt x="1696518" y="0"/>
                    <a:pt x="1722435" y="10735"/>
                    <a:pt x="1741544" y="29844"/>
                  </a:cubicBezTo>
                  <a:cubicBezTo>
                    <a:pt x="1760653" y="48953"/>
                    <a:pt x="1771388" y="74870"/>
                    <a:pt x="1771388" y="101894"/>
                  </a:cubicBezTo>
                  <a:lnTo>
                    <a:pt x="1771388" y="101894"/>
                  </a:lnTo>
                  <a:cubicBezTo>
                    <a:pt x="1771388" y="158168"/>
                    <a:pt x="1725769" y="203788"/>
                    <a:pt x="1669494" y="203788"/>
                  </a:cubicBezTo>
                  <a:lnTo>
                    <a:pt x="101894" y="203788"/>
                  </a:lnTo>
                  <a:cubicBezTo>
                    <a:pt x="74870" y="203788"/>
                    <a:pt x="48953" y="193053"/>
                    <a:pt x="29844" y="173944"/>
                  </a:cubicBezTo>
                  <a:cubicBezTo>
                    <a:pt x="10735" y="154835"/>
                    <a:pt x="0" y="128918"/>
                    <a:pt x="0" y="101894"/>
                  </a:cubicBezTo>
                  <a:lnTo>
                    <a:pt x="0" y="101894"/>
                  </a:lnTo>
                  <a:cubicBezTo>
                    <a:pt x="0" y="74870"/>
                    <a:pt x="10735" y="48953"/>
                    <a:pt x="29844" y="29844"/>
                  </a:cubicBezTo>
                  <a:cubicBezTo>
                    <a:pt x="48953" y="10735"/>
                    <a:pt x="74870" y="0"/>
                    <a:pt x="101894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7C61D">
                    <a:alpha val="100000"/>
                  </a:srgbClr>
                </a:gs>
                <a:gs pos="50000">
                  <a:srgbClr val="CEA20B">
                    <a:alpha val="100000"/>
                  </a:srgbClr>
                </a:gs>
                <a:gs pos="100000">
                  <a:srgbClr val="D39505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1771388" cy="2418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  <a:r>
                <a:rPr lang="en-US" b="true" sz="2199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Visibilidad total del estado del negocio</a:t>
              </a:r>
            </a:p>
          </p:txBody>
        </p:sp>
      </p:grpSp>
      <p:sp>
        <p:nvSpPr>
          <p:cNvPr name="Freeform 31" id="31"/>
          <p:cNvSpPr/>
          <p:nvPr/>
        </p:nvSpPr>
        <p:spPr>
          <a:xfrm flipH="false" flipV="false" rot="0">
            <a:off x="1047750" y="5281274"/>
            <a:ext cx="4525777" cy="3977026"/>
          </a:xfrm>
          <a:custGeom>
            <a:avLst/>
            <a:gdLst/>
            <a:ahLst/>
            <a:cxnLst/>
            <a:rect r="r" b="b" t="t" l="l"/>
            <a:pathLst>
              <a:path h="3977026" w="4525777">
                <a:moveTo>
                  <a:pt x="0" y="0"/>
                </a:moveTo>
                <a:lnTo>
                  <a:pt x="4525777" y="0"/>
                </a:lnTo>
                <a:lnTo>
                  <a:pt x="4525777" y="3977026"/>
                </a:lnTo>
                <a:lnTo>
                  <a:pt x="0" y="397702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F8FDFF">
                <a:alpha val="100000"/>
              </a:srgbClr>
            </a:gs>
            <a:gs pos="100000">
              <a:srgbClr val="EFFAFF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537567" y="7805798"/>
            <a:ext cx="721733" cy="810936"/>
          </a:xfrm>
          <a:custGeom>
            <a:avLst/>
            <a:gdLst/>
            <a:ahLst/>
            <a:cxnLst/>
            <a:rect r="r" b="b" t="t" l="l"/>
            <a:pathLst>
              <a:path h="810936" w="721733">
                <a:moveTo>
                  <a:pt x="0" y="0"/>
                </a:moveTo>
                <a:lnTo>
                  <a:pt x="721733" y="0"/>
                </a:lnTo>
                <a:lnTo>
                  <a:pt x="721733" y="810936"/>
                </a:lnTo>
                <a:lnTo>
                  <a:pt x="0" y="8109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474355" y="1303865"/>
            <a:ext cx="578252" cy="649721"/>
          </a:xfrm>
          <a:custGeom>
            <a:avLst/>
            <a:gdLst/>
            <a:ahLst/>
            <a:cxnLst/>
            <a:rect r="r" b="b" t="t" l="l"/>
            <a:pathLst>
              <a:path h="649721" w="578252">
                <a:moveTo>
                  <a:pt x="0" y="0"/>
                </a:moveTo>
                <a:lnTo>
                  <a:pt x="578252" y="0"/>
                </a:lnTo>
                <a:lnTo>
                  <a:pt x="578252" y="649721"/>
                </a:lnTo>
                <a:lnTo>
                  <a:pt x="0" y="64972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034001" y="862797"/>
            <a:ext cx="492295" cy="553140"/>
          </a:xfrm>
          <a:custGeom>
            <a:avLst/>
            <a:gdLst/>
            <a:ahLst/>
            <a:cxnLst/>
            <a:rect r="r" b="b" t="t" l="l"/>
            <a:pathLst>
              <a:path h="553140" w="492295">
                <a:moveTo>
                  <a:pt x="0" y="0"/>
                </a:moveTo>
                <a:lnTo>
                  <a:pt x="492295" y="0"/>
                </a:lnTo>
                <a:lnTo>
                  <a:pt x="492295" y="553140"/>
                </a:lnTo>
                <a:lnTo>
                  <a:pt x="0" y="5531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1695456" y="3846148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69"/>
                </a:lnTo>
                <a:lnTo>
                  <a:pt x="0" y="2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533061" y="4613723"/>
            <a:ext cx="6584263" cy="5827233"/>
          </a:xfrm>
          <a:custGeom>
            <a:avLst/>
            <a:gdLst/>
            <a:ahLst/>
            <a:cxnLst/>
            <a:rect r="r" b="b" t="t" l="l"/>
            <a:pathLst>
              <a:path h="5827233" w="6584263">
                <a:moveTo>
                  <a:pt x="0" y="0"/>
                </a:moveTo>
                <a:lnTo>
                  <a:pt x="6584263" y="0"/>
                </a:lnTo>
                <a:lnTo>
                  <a:pt x="6584263" y="5827233"/>
                </a:lnTo>
                <a:lnTo>
                  <a:pt x="0" y="582723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-1470" b="-1324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-1380819">
            <a:off x="-3517409" y="6070515"/>
            <a:ext cx="7543483" cy="7128591"/>
          </a:xfrm>
          <a:custGeom>
            <a:avLst/>
            <a:gdLst/>
            <a:ahLst/>
            <a:cxnLst/>
            <a:rect r="r" b="b" t="t" l="l"/>
            <a:pathLst>
              <a:path h="7128591" w="7543483">
                <a:moveTo>
                  <a:pt x="0" y="0"/>
                </a:moveTo>
                <a:lnTo>
                  <a:pt x="7543483" y="0"/>
                </a:lnTo>
                <a:lnTo>
                  <a:pt x="7543483" y="7128592"/>
                </a:lnTo>
                <a:lnTo>
                  <a:pt x="0" y="712859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-7718068">
            <a:off x="16184453" y="1534510"/>
            <a:ext cx="3313055" cy="3313055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-7718068">
            <a:off x="11459915" y="-1013808"/>
            <a:ext cx="2467179" cy="2467179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-7718068">
            <a:off x="8937890" y="274933"/>
            <a:ext cx="780916" cy="780916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6" id="1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-7718068">
            <a:off x="6362347" y="8758765"/>
            <a:ext cx="1056961" cy="1056961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9" id="19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5354136" y="-641129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70"/>
                </a:lnTo>
                <a:lnTo>
                  <a:pt x="0" y="245517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2769534" y="9258300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69"/>
                </a:lnTo>
                <a:lnTo>
                  <a:pt x="0" y="2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047750" y="3113398"/>
            <a:ext cx="4872259" cy="16691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52"/>
              </a:lnSpc>
            </a:pPr>
            <a:r>
              <a:rPr lang="en-US" sz="5600" b="true">
                <a:solidFill>
                  <a:srgbClr val="193682"/>
                </a:solidFill>
                <a:latin typeface="Inter Bold"/>
                <a:ea typeface="Inter Bold"/>
                <a:cs typeface="Inter Bold"/>
                <a:sym typeface="Inter Bold"/>
              </a:rPr>
              <a:t>Análisis Inteligente</a:t>
            </a:r>
          </a:p>
        </p:txBody>
      </p:sp>
      <p:grpSp>
        <p:nvGrpSpPr>
          <p:cNvPr name="Group 23" id="23"/>
          <p:cNvGrpSpPr>
            <a:grpSpLocks noChangeAspect="true"/>
          </p:cNvGrpSpPr>
          <p:nvPr/>
        </p:nvGrpSpPr>
        <p:grpSpPr>
          <a:xfrm rot="0">
            <a:off x="4716527" y="2292758"/>
            <a:ext cx="13046281" cy="7483189"/>
            <a:chOff x="0" y="0"/>
            <a:chExt cx="7981950" cy="457835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765810" y="21590"/>
              <a:ext cx="6451600" cy="4326890"/>
            </a:xfrm>
            <a:custGeom>
              <a:avLst/>
              <a:gdLst/>
              <a:ahLst/>
              <a:cxnLst/>
              <a:rect r="r" b="b" t="t" l="l"/>
              <a:pathLst>
                <a:path h="4326890" w="645160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01039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981950" cy="4542790"/>
            </a:xfrm>
            <a:custGeom>
              <a:avLst/>
              <a:gdLst/>
              <a:ahLst/>
              <a:cxnLst/>
              <a:rect r="r" b="b" t="t" l="l"/>
              <a:pathLst>
                <a:path h="4542790" w="798195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3460750" y="4349750"/>
              <a:ext cx="1059180" cy="96520"/>
            </a:xfrm>
            <a:custGeom>
              <a:avLst/>
              <a:gdLst/>
              <a:ahLst/>
              <a:cxnLst/>
              <a:rect r="r" b="b" t="t" l="l"/>
              <a:pathLst>
                <a:path h="96520" w="105918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302F2C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163830" y="4542790"/>
              <a:ext cx="7654290" cy="35560"/>
            </a:xfrm>
            <a:custGeom>
              <a:avLst/>
              <a:gdLst/>
              <a:ahLst/>
              <a:cxnLst/>
              <a:rect r="r" b="b" t="t" l="l"/>
              <a:pathLst>
                <a:path h="35560" w="765429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302F2C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962660" y="276860"/>
              <a:ext cx="6055360" cy="3789680"/>
            </a:xfrm>
            <a:custGeom>
              <a:avLst/>
              <a:gdLst/>
              <a:ahLst/>
              <a:cxnLst/>
              <a:rect r="r" b="b" t="t" l="l"/>
              <a:pathLst>
                <a:path h="3789680" w="6055360">
                  <a:moveTo>
                    <a:pt x="0" y="0"/>
                  </a:moveTo>
                  <a:lnTo>
                    <a:pt x="6055360" y="0"/>
                  </a:lnTo>
                  <a:lnTo>
                    <a:pt x="6055360" y="3789680"/>
                  </a:lnTo>
                  <a:lnTo>
                    <a:pt x="0" y="3789680"/>
                  </a:lnTo>
                  <a:close/>
                </a:path>
              </a:pathLst>
            </a:custGeom>
            <a:blipFill>
              <a:blip r:embed="rId7"/>
              <a:stretch>
                <a:fillRect l="-16499" t="0" r="-16499" b="0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7876798" y="8346770"/>
            <a:ext cx="6725739" cy="944245"/>
            <a:chOff x="0" y="0"/>
            <a:chExt cx="1771388" cy="24869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771388" cy="248690"/>
            </a:xfrm>
            <a:custGeom>
              <a:avLst/>
              <a:gdLst/>
              <a:ahLst/>
              <a:cxnLst/>
              <a:rect r="r" b="b" t="t" l="l"/>
              <a:pathLst>
                <a:path h="248690" w="1771388">
                  <a:moveTo>
                    <a:pt x="115109" y="0"/>
                  </a:moveTo>
                  <a:lnTo>
                    <a:pt x="1656279" y="0"/>
                  </a:lnTo>
                  <a:cubicBezTo>
                    <a:pt x="1686808" y="0"/>
                    <a:pt x="1716087" y="12128"/>
                    <a:pt x="1737674" y="33715"/>
                  </a:cubicBezTo>
                  <a:cubicBezTo>
                    <a:pt x="1759261" y="55302"/>
                    <a:pt x="1771388" y="84580"/>
                    <a:pt x="1771388" y="115109"/>
                  </a:cubicBezTo>
                  <a:lnTo>
                    <a:pt x="1771388" y="133581"/>
                  </a:lnTo>
                  <a:cubicBezTo>
                    <a:pt x="1771388" y="164110"/>
                    <a:pt x="1759261" y="193388"/>
                    <a:pt x="1737674" y="214975"/>
                  </a:cubicBezTo>
                  <a:cubicBezTo>
                    <a:pt x="1716087" y="236562"/>
                    <a:pt x="1686808" y="248690"/>
                    <a:pt x="1656279" y="248690"/>
                  </a:cubicBezTo>
                  <a:lnTo>
                    <a:pt x="115109" y="248690"/>
                  </a:lnTo>
                  <a:cubicBezTo>
                    <a:pt x="84580" y="248690"/>
                    <a:pt x="55302" y="236562"/>
                    <a:pt x="33715" y="214975"/>
                  </a:cubicBezTo>
                  <a:cubicBezTo>
                    <a:pt x="12128" y="193388"/>
                    <a:pt x="0" y="164110"/>
                    <a:pt x="0" y="133581"/>
                  </a:cubicBezTo>
                  <a:lnTo>
                    <a:pt x="0" y="115109"/>
                  </a:lnTo>
                  <a:cubicBezTo>
                    <a:pt x="0" y="84580"/>
                    <a:pt x="12128" y="55302"/>
                    <a:pt x="33715" y="33715"/>
                  </a:cubicBezTo>
                  <a:cubicBezTo>
                    <a:pt x="55302" y="12128"/>
                    <a:pt x="84580" y="0"/>
                    <a:pt x="115109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7C61D">
                    <a:alpha val="100000"/>
                  </a:srgbClr>
                </a:gs>
                <a:gs pos="50000">
                  <a:srgbClr val="CEA20B">
                    <a:alpha val="100000"/>
                  </a:srgbClr>
                </a:gs>
                <a:gs pos="100000">
                  <a:srgbClr val="D39505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1771388" cy="2867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79"/>
                </a:lnSpc>
              </a:pPr>
              <a:r>
                <a:rPr lang="en-US" b="true" sz="2199">
                  <a:solidFill>
                    <a:srgbClr val="FFFFFF"/>
                  </a:solidFill>
                  <a:latin typeface="Inter Bold"/>
                  <a:ea typeface="Inter Bold"/>
                  <a:cs typeface="Inter Bold"/>
                  <a:sym typeface="Inter Bold"/>
                </a:rPr>
                <a:t>Anticipación a la demanda futura para evitar pérdidas</a:t>
              </a: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1079460" y="2517840"/>
            <a:ext cx="3637067" cy="490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3"/>
              </a:lnSpc>
            </a:pPr>
            <a:r>
              <a:rPr lang="en-US" sz="2802" spc="448">
                <a:solidFill>
                  <a:srgbClr val="C68817"/>
                </a:solidFill>
                <a:latin typeface="Inter"/>
                <a:ea typeface="Inter"/>
                <a:cs typeface="Inter"/>
                <a:sym typeface="Inter"/>
              </a:rPr>
              <a:t>(IA)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F8FDFF">
                <a:alpha val="100000"/>
              </a:srgbClr>
            </a:gs>
            <a:gs pos="100000">
              <a:srgbClr val="EFFAFF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37948" y="-742419"/>
            <a:ext cx="18763895" cy="4910442"/>
            <a:chOff x="0" y="0"/>
            <a:chExt cx="4941931" cy="129328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941931" cy="1293285"/>
            </a:xfrm>
            <a:custGeom>
              <a:avLst/>
              <a:gdLst/>
              <a:ahLst/>
              <a:cxnLst/>
              <a:rect r="r" b="b" t="t" l="l"/>
              <a:pathLst>
                <a:path h="1293285" w="4941931">
                  <a:moveTo>
                    <a:pt x="8665" y="0"/>
                  </a:moveTo>
                  <a:lnTo>
                    <a:pt x="4933267" y="0"/>
                  </a:lnTo>
                  <a:cubicBezTo>
                    <a:pt x="4935565" y="0"/>
                    <a:pt x="4937769" y="913"/>
                    <a:pt x="4939393" y="2538"/>
                  </a:cubicBezTo>
                  <a:cubicBezTo>
                    <a:pt x="4941019" y="4163"/>
                    <a:pt x="4941931" y="6367"/>
                    <a:pt x="4941931" y="8665"/>
                  </a:cubicBezTo>
                  <a:lnTo>
                    <a:pt x="4941931" y="1284621"/>
                  </a:lnTo>
                  <a:cubicBezTo>
                    <a:pt x="4941931" y="1289406"/>
                    <a:pt x="4938052" y="1293285"/>
                    <a:pt x="4933267" y="1293285"/>
                  </a:cubicBezTo>
                  <a:lnTo>
                    <a:pt x="8665" y="1293285"/>
                  </a:lnTo>
                  <a:cubicBezTo>
                    <a:pt x="3879" y="1293285"/>
                    <a:pt x="0" y="1289406"/>
                    <a:pt x="0" y="1284621"/>
                  </a:cubicBezTo>
                  <a:lnTo>
                    <a:pt x="0" y="8665"/>
                  </a:lnTo>
                  <a:cubicBezTo>
                    <a:pt x="0" y="3879"/>
                    <a:pt x="3879" y="0"/>
                    <a:pt x="866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941931" cy="13313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true" flipV="false" rot="388454">
            <a:off x="-1113631" y="-401925"/>
            <a:ext cx="9031111" cy="8229600"/>
          </a:xfrm>
          <a:custGeom>
            <a:avLst/>
            <a:gdLst/>
            <a:ahLst/>
            <a:cxnLst/>
            <a:rect r="r" b="b" t="t" l="l"/>
            <a:pathLst>
              <a:path h="8229600" w="9031111">
                <a:moveTo>
                  <a:pt x="9031111" y="0"/>
                </a:moveTo>
                <a:lnTo>
                  <a:pt x="0" y="0"/>
                </a:lnTo>
                <a:lnTo>
                  <a:pt x="0" y="8229600"/>
                </a:lnTo>
                <a:lnTo>
                  <a:pt x="9031111" y="8229600"/>
                </a:lnTo>
                <a:lnTo>
                  <a:pt x="9031111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-541691">
            <a:off x="-1221921" y="806162"/>
            <a:ext cx="8961257" cy="8524396"/>
          </a:xfrm>
          <a:custGeom>
            <a:avLst/>
            <a:gdLst/>
            <a:ahLst/>
            <a:cxnLst/>
            <a:rect r="r" b="b" t="t" l="l"/>
            <a:pathLst>
              <a:path h="8524396" w="8961257">
                <a:moveTo>
                  <a:pt x="0" y="0"/>
                </a:moveTo>
                <a:lnTo>
                  <a:pt x="8961258" y="0"/>
                </a:lnTo>
                <a:lnTo>
                  <a:pt x="8961258" y="8524396"/>
                </a:lnTo>
                <a:lnTo>
                  <a:pt x="0" y="85243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8431629" y="5175521"/>
            <a:ext cx="3954667" cy="625056"/>
            <a:chOff x="0" y="0"/>
            <a:chExt cx="946316" cy="14957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46316" cy="149570"/>
            </a:xfrm>
            <a:custGeom>
              <a:avLst/>
              <a:gdLst/>
              <a:ahLst/>
              <a:cxnLst/>
              <a:rect r="r" b="b" t="t" l="l"/>
              <a:pathLst>
                <a:path h="149570" w="946316">
                  <a:moveTo>
                    <a:pt x="45026" y="0"/>
                  </a:moveTo>
                  <a:lnTo>
                    <a:pt x="901290" y="0"/>
                  </a:lnTo>
                  <a:cubicBezTo>
                    <a:pt x="926157" y="0"/>
                    <a:pt x="946316" y="20159"/>
                    <a:pt x="946316" y="45026"/>
                  </a:cubicBezTo>
                  <a:lnTo>
                    <a:pt x="946316" y="104544"/>
                  </a:lnTo>
                  <a:cubicBezTo>
                    <a:pt x="946316" y="116486"/>
                    <a:pt x="941572" y="127938"/>
                    <a:pt x="933128" y="136382"/>
                  </a:cubicBezTo>
                  <a:cubicBezTo>
                    <a:pt x="924684" y="144826"/>
                    <a:pt x="913232" y="149570"/>
                    <a:pt x="901290" y="149570"/>
                  </a:cubicBezTo>
                  <a:lnTo>
                    <a:pt x="45026" y="149570"/>
                  </a:lnTo>
                  <a:cubicBezTo>
                    <a:pt x="33085" y="149570"/>
                    <a:pt x="21632" y="144826"/>
                    <a:pt x="13188" y="136382"/>
                  </a:cubicBezTo>
                  <a:cubicBezTo>
                    <a:pt x="4744" y="127938"/>
                    <a:pt x="0" y="116486"/>
                    <a:pt x="0" y="104544"/>
                  </a:cubicBezTo>
                  <a:lnTo>
                    <a:pt x="0" y="45026"/>
                  </a:lnTo>
                  <a:cubicBezTo>
                    <a:pt x="0" y="33085"/>
                    <a:pt x="4744" y="21632"/>
                    <a:pt x="13188" y="13188"/>
                  </a:cubicBezTo>
                  <a:cubicBezTo>
                    <a:pt x="21632" y="4744"/>
                    <a:pt x="33085" y="0"/>
                    <a:pt x="4502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501E">
                    <a:alpha val="100000"/>
                  </a:srgbClr>
                </a:gs>
                <a:gs pos="100000">
                  <a:srgbClr val="6CA62C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946316" cy="1876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false" flipV="false" rot="0">
            <a:off x="8011940" y="5068360"/>
            <a:ext cx="839377" cy="839377"/>
          </a:xfrm>
          <a:custGeom>
            <a:avLst/>
            <a:gdLst/>
            <a:ahLst/>
            <a:cxnLst/>
            <a:rect r="r" b="b" t="t" l="l"/>
            <a:pathLst>
              <a:path h="839377" w="839377">
                <a:moveTo>
                  <a:pt x="0" y="0"/>
                </a:moveTo>
                <a:lnTo>
                  <a:pt x="839378" y="0"/>
                </a:lnTo>
                <a:lnTo>
                  <a:pt x="839378" y="839377"/>
                </a:lnTo>
                <a:lnTo>
                  <a:pt x="0" y="8393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13383563" y="5175521"/>
            <a:ext cx="4431437" cy="625056"/>
            <a:chOff x="0" y="0"/>
            <a:chExt cx="1060403" cy="14957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60403" cy="149570"/>
            </a:xfrm>
            <a:custGeom>
              <a:avLst/>
              <a:gdLst/>
              <a:ahLst/>
              <a:cxnLst/>
              <a:rect r="r" b="b" t="t" l="l"/>
              <a:pathLst>
                <a:path h="149570" w="1060403">
                  <a:moveTo>
                    <a:pt x="40182" y="0"/>
                  </a:moveTo>
                  <a:lnTo>
                    <a:pt x="1020221" y="0"/>
                  </a:lnTo>
                  <a:cubicBezTo>
                    <a:pt x="1042413" y="0"/>
                    <a:pt x="1060403" y="17990"/>
                    <a:pt x="1060403" y="40182"/>
                  </a:cubicBezTo>
                  <a:lnTo>
                    <a:pt x="1060403" y="109388"/>
                  </a:lnTo>
                  <a:cubicBezTo>
                    <a:pt x="1060403" y="131580"/>
                    <a:pt x="1042413" y="149570"/>
                    <a:pt x="1020221" y="149570"/>
                  </a:cubicBezTo>
                  <a:lnTo>
                    <a:pt x="40182" y="149570"/>
                  </a:lnTo>
                  <a:cubicBezTo>
                    <a:pt x="17990" y="149570"/>
                    <a:pt x="0" y="131580"/>
                    <a:pt x="0" y="109388"/>
                  </a:cubicBezTo>
                  <a:lnTo>
                    <a:pt x="0" y="40182"/>
                  </a:lnTo>
                  <a:cubicBezTo>
                    <a:pt x="0" y="17990"/>
                    <a:pt x="17990" y="0"/>
                    <a:pt x="40182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501E">
                    <a:alpha val="100000"/>
                  </a:srgbClr>
                </a:gs>
                <a:gs pos="100000">
                  <a:srgbClr val="6CA62C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060403" cy="1876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13137296" y="5146344"/>
            <a:ext cx="839740" cy="757865"/>
          </a:xfrm>
          <a:custGeom>
            <a:avLst/>
            <a:gdLst/>
            <a:ahLst/>
            <a:cxnLst/>
            <a:rect r="r" b="b" t="t" l="l"/>
            <a:pathLst>
              <a:path h="757865" w="839740">
                <a:moveTo>
                  <a:pt x="0" y="0"/>
                </a:moveTo>
                <a:lnTo>
                  <a:pt x="839740" y="0"/>
                </a:lnTo>
                <a:lnTo>
                  <a:pt x="839740" y="757865"/>
                </a:lnTo>
                <a:lnTo>
                  <a:pt x="0" y="7578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-10800000">
            <a:off x="8431629" y="7804806"/>
            <a:ext cx="3954667" cy="625056"/>
            <a:chOff x="0" y="0"/>
            <a:chExt cx="946316" cy="14957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46316" cy="149570"/>
            </a:xfrm>
            <a:custGeom>
              <a:avLst/>
              <a:gdLst/>
              <a:ahLst/>
              <a:cxnLst/>
              <a:rect r="r" b="b" t="t" l="l"/>
              <a:pathLst>
                <a:path h="149570" w="946316">
                  <a:moveTo>
                    <a:pt x="45026" y="0"/>
                  </a:moveTo>
                  <a:lnTo>
                    <a:pt x="901290" y="0"/>
                  </a:lnTo>
                  <a:cubicBezTo>
                    <a:pt x="926157" y="0"/>
                    <a:pt x="946316" y="20159"/>
                    <a:pt x="946316" y="45026"/>
                  </a:cubicBezTo>
                  <a:lnTo>
                    <a:pt x="946316" y="104544"/>
                  </a:lnTo>
                  <a:cubicBezTo>
                    <a:pt x="946316" y="116486"/>
                    <a:pt x="941572" y="127938"/>
                    <a:pt x="933128" y="136382"/>
                  </a:cubicBezTo>
                  <a:cubicBezTo>
                    <a:pt x="924684" y="144826"/>
                    <a:pt x="913232" y="149570"/>
                    <a:pt x="901290" y="149570"/>
                  </a:cubicBezTo>
                  <a:lnTo>
                    <a:pt x="45026" y="149570"/>
                  </a:lnTo>
                  <a:cubicBezTo>
                    <a:pt x="33085" y="149570"/>
                    <a:pt x="21632" y="144826"/>
                    <a:pt x="13188" y="136382"/>
                  </a:cubicBezTo>
                  <a:cubicBezTo>
                    <a:pt x="4744" y="127938"/>
                    <a:pt x="0" y="116486"/>
                    <a:pt x="0" y="104544"/>
                  </a:cubicBezTo>
                  <a:lnTo>
                    <a:pt x="0" y="45026"/>
                  </a:lnTo>
                  <a:cubicBezTo>
                    <a:pt x="0" y="33085"/>
                    <a:pt x="4744" y="21632"/>
                    <a:pt x="13188" y="13188"/>
                  </a:cubicBezTo>
                  <a:cubicBezTo>
                    <a:pt x="21632" y="4744"/>
                    <a:pt x="33085" y="0"/>
                    <a:pt x="4502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501E">
                    <a:alpha val="100000"/>
                  </a:srgbClr>
                </a:gs>
                <a:gs pos="100000">
                  <a:srgbClr val="6CA62C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946316" cy="1876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-10800000">
            <a:off x="13383563" y="7804806"/>
            <a:ext cx="4563724" cy="625056"/>
            <a:chOff x="0" y="0"/>
            <a:chExt cx="1092058" cy="14957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92058" cy="149570"/>
            </a:xfrm>
            <a:custGeom>
              <a:avLst/>
              <a:gdLst/>
              <a:ahLst/>
              <a:cxnLst/>
              <a:rect r="r" b="b" t="t" l="l"/>
              <a:pathLst>
                <a:path h="149570" w="1092058">
                  <a:moveTo>
                    <a:pt x="39017" y="0"/>
                  </a:moveTo>
                  <a:lnTo>
                    <a:pt x="1053041" y="0"/>
                  </a:lnTo>
                  <a:cubicBezTo>
                    <a:pt x="1074589" y="0"/>
                    <a:pt x="1092058" y="17469"/>
                    <a:pt x="1092058" y="39017"/>
                  </a:cubicBezTo>
                  <a:lnTo>
                    <a:pt x="1092058" y="110553"/>
                  </a:lnTo>
                  <a:cubicBezTo>
                    <a:pt x="1092058" y="132102"/>
                    <a:pt x="1074589" y="149570"/>
                    <a:pt x="1053041" y="149570"/>
                  </a:cubicBezTo>
                  <a:lnTo>
                    <a:pt x="39017" y="149570"/>
                  </a:lnTo>
                  <a:cubicBezTo>
                    <a:pt x="17469" y="149570"/>
                    <a:pt x="0" y="132102"/>
                    <a:pt x="0" y="110553"/>
                  </a:cubicBezTo>
                  <a:lnTo>
                    <a:pt x="0" y="39017"/>
                  </a:lnTo>
                  <a:cubicBezTo>
                    <a:pt x="0" y="17469"/>
                    <a:pt x="17469" y="0"/>
                    <a:pt x="3901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501E">
                    <a:alpha val="100000"/>
                  </a:srgbClr>
                </a:gs>
                <a:gs pos="100000">
                  <a:srgbClr val="6CA62C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092058" cy="1876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13137296" y="7775629"/>
            <a:ext cx="839740" cy="757865"/>
          </a:xfrm>
          <a:custGeom>
            <a:avLst/>
            <a:gdLst/>
            <a:ahLst/>
            <a:cxnLst/>
            <a:rect r="r" b="b" t="t" l="l"/>
            <a:pathLst>
              <a:path h="757865" w="839740">
                <a:moveTo>
                  <a:pt x="0" y="0"/>
                </a:moveTo>
                <a:lnTo>
                  <a:pt x="839740" y="0"/>
                </a:lnTo>
                <a:lnTo>
                  <a:pt x="839740" y="757865"/>
                </a:lnTo>
                <a:lnTo>
                  <a:pt x="0" y="7578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623" r="0" b="-623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8063127" y="7508336"/>
            <a:ext cx="839740" cy="921525"/>
          </a:xfrm>
          <a:custGeom>
            <a:avLst/>
            <a:gdLst/>
            <a:ahLst/>
            <a:cxnLst/>
            <a:rect r="r" b="b" t="t" l="l"/>
            <a:pathLst>
              <a:path h="921525" w="839740">
                <a:moveTo>
                  <a:pt x="0" y="0"/>
                </a:moveTo>
                <a:lnTo>
                  <a:pt x="839740" y="0"/>
                </a:lnTo>
                <a:lnTo>
                  <a:pt x="839740" y="921525"/>
                </a:lnTo>
                <a:lnTo>
                  <a:pt x="0" y="9215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8214187" y="2274017"/>
            <a:ext cx="11403592" cy="9406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7324"/>
              </a:lnSpc>
            </a:pPr>
            <a:r>
              <a:rPr lang="en-US" b="true" sz="6259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¿Por qué elegir Invex?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214187" y="1733344"/>
            <a:ext cx="7179992" cy="5312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386"/>
              </a:lnSpc>
            </a:pPr>
            <a:r>
              <a:rPr lang="en-US" sz="3133" spc="501">
                <a:solidFill>
                  <a:srgbClr val="F7D958"/>
                </a:solidFill>
                <a:latin typeface="Inter"/>
                <a:ea typeface="Inter"/>
                <a:cs typeface="Inter"/>
                <a:sym typeface="Inter"/>
              </a:rPr>
              <a:t>IMPACTO EN EL NEGOCIO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8954054" y="5286129"/>
            <a:ext cx="3178343" cy="3614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27"/>
              </a:lnSpc>
              <a:spcBef>
                <a:spcPct val="0"/>
              </a:spcBef>
            </a:pPr>
            <a:r>
              <a:rPr lang="en-US" sz="209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Reducción de Costos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431629" y="5922055"/>
            <a:ext cx="4087540" cy="12719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81"/>
              </a:lnSpc>
            </a:pPr>
            <a:r>
              <a:rPr lang="en-US" sz="1870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Disminuye los gastos operativos y </a:t>
            </a:r>
            <a:r>
              <a:rPr lang="en-US" b="true" sz="1870">
                <a:solidFill>
                  <a:srgbClr val="2A8513"/>
                </a:solidFill>
                <a:latin typeface="Inter Bold"/>
                <a:ea typeface="Inter Bold"/>
                <a:cs typeface="Inter Bold"/>
                <a:sym typeface="Inter Bold"/>
              </a:rPr>
              <a:t>elimina las pérdidas</a:t>
            </a:r>
            <a:r>
              <a:rPr lang="en-US" sz="1870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 generadas por errores manuales y sobrecarga de bodega.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4074444" y="5286129"/>
            <a:ext cx="3740555" cy="3614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27"/>
              </a:lnSpc>
              <a:spcBef>
                <a:spcPct val="0"/>
              </a:spcBef>
            </a:pPr>
            <a:r>
              <a:rPr lang="en-US" sz="209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Optimización de Capital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3536508" y="5922055"/>
            <a:ext cx="4257833" cy="1322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90"/>
              </a:lnSpc>
              <a:spcBef>
                <a:spcPct val="0"/>
              </a:spcBef>
            </a:pPr>
            <a:r>
              <a:rPr lang="en-US" b="true" sz="1921">
                <a:solidFill>
                  <a:srgbClr val="2A8513"/>
                </a:solidFill>
                <a:latin typeface="Inter Bold"/>
                <a:ea typeface="Inter Bold"/>
                <a:cs typeface="Inter Bold"/>
                <a:sym typeface="Inter Bold"/>
              </a:rPr>
              <a:t>Maximiza la rentabilidad</a:t>
            </a:r>
            <a:r>
              <a:rPr lang="en-US" sz="1921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 de tu inversión, evitando tener dinero "dormido" en productos que no rotan.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954054" y="7915414"/>
            <a:ext cx="3348690" cy="3614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27"/>
              </a:lnSpc>
              <a:spcBef>
                <a:spcPct val="0"/>
              </a:spcBef>
            </a:pPr>
            <a:r>
              <a:rPr lang="en-US" sz="209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Decisiones Estratégicas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8604739" y="8553686"/>
            <a:ext cx="3781557" cy="1286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66"/>
              </a:lnSpc>
              <a:spcBef>
                <a:spcPct val="0"/>
              </a:spcBef>
            </a:pPr>
            <a:r>
              <a:rPr lang="en-US" sz="1833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Pasa de la intuición a la certeza. </a:t>
            </a:r>
            <a:r>
              <a:rPr lang="en-US" b="true" sz="1833">
                <a:solidFill>
                  <a:srgbClr val="2A8513"/>
                </a:solidFill>
                <a:latin typeface="Inter Bold"/>
                <a:ea typeface="Inter Bold"/>
                <a:cs typeface="Inter Bold"/>
                <a:sym typeface="Inter Bold"/>
              </a:rPr>
              <a:t>Usa datos reales</a:t>
            </a:r>
            <a:r>
              <a:rPr lang="en-US" sz="1833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 y </a:t>
            </a:r>
            <a:r>
              <a:rPr lang="en-US" b="true" sz="1833">
                <a:solidFill>
                  <a:srgbClr val="2A8513"/>
                </a:solidFill>
                <a:latin typeface="Inter Bold"/>
                <a:ea typeface="Inter Bold"/>
                <a:cs typeface="Inter Bold"/>
                <a:sym typeface="Inter Bold"/>
              </a:rPr>
              <a:t>proyecciones</a:t>
            </a:r>
            <a:r>
              <a:rPr lang="en-US" sz="1833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 para planificar </a:t>
            </a:r>
            <a:r>
              <a:rPr lang="en-US" b="true" sz="1833">
                <a:solidFill>
                  <a:srgbClr val="2A8513"/>
                </a:solidFill>
                <a:latin typeface="Inter Bold"/>
                <a:ea typeface="Inter Bold"/>
                <a:cs typeface="Inter Bold"/>
                <a:sym typeface="Inter Bold"/>
              </a:rPr>
              <a:t>compras inteligentes.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074444" y="7915414"/>
            <a:ext cx="3740555" cy="3614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27"/>
              </a:lnSpc>
              <a:spcBef>
                <a:spcPct val="0"/>
              </a:spcBef>
            </a:pPr>
            <a:r>
              <a:rPr lang="en-US" sz="209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Disponibilidad Asegurada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3783695" y="8657319"/>
            <a:ext cx="4031304" cy="963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66"/>
              </a:lnSpc>
              <a:spcBef>
                <a:spcPct val="0"/>
              </a:spcBef>
            </a:pPr>
            <a:r>
              <a:rPr lang="en-US" b="true" sz="1833">
                <a:solidFill>
                  <a:srgbClr val="2A8513"/>
                </a:solidFill>
                <a:latin typeface="Inter Bold"/>
                <a:ea typeface="Inter Bold"/>
                <a:cs typeface="Inter Bold"/>
                <a:sym typeface="Inter Bold"/>
              </a:rPr>
              <a:t>Garantiza el stock </a:t>
            </a:r>
            <a:r>
              <a:rPr lang="en-US" sz="1833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de tus productos críticos para no perder ni una sola venta por falta de mercancía.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F8FDFF">
                <a:alpha val="100000"/>
              </a:srgbClr>
            </a:gs>
            <a:gs pos="100000">
              <a:srgbClr val="EFFAFF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887697" y="-734176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69"/>
                </a:lnTo>
                <a:lnTo>
                  <a:pt x="0" y="2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714506" y="1982832"/>
            <a:ext cx="2743206" cy="2455169"/>
          </a:xfrm>
          <a:custGeom>
            <a:avLst/>
            <a:gdLst/>
            <a:ahLst/>
            <a:cxnLst/>
            <a:rect r="r" b="b" t="t" l="l"/>
            <a:pathLst>
              <a:path h="2455169" w="2743206">
                <a:moveTo>
                  <a:pt x="0" y="0"/>
                </a:moveTo>
                <a:lnTo>
                  <a:pt x="2743206" y="0"/>
                </a:lnTo>
                <a:lnTo>
                  <a:pt x="2743206" y="2455169"/>
                </a:lnTo>
                <a:lnTo>
                  <a:pt x="0" y="24551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-7718068">
            <a:off x="2199481" y="-2932558"/>
            <a:ext cx="3969460" cy="3969460"/>
            <a:chOff x="0" y="0"/>
            <a:chExt cx="812800" cy="812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6" id="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6493672">
            <a:off x="610805" y="212880"/>
            <a:ext cx="835790" cy="835790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9" id="9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1534138">
            <a:off x="10444353" y="212880"/>
            <a:ext cx="835790" cy="835790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-254411" y="9737615"/>
            <a:ext cx="19273043" cy="1479770"/>
            <a:chOff x="0" y="0"/>
            <a:chExt cx="5076028" cy="38973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076028" cy="389734"/>
            </a:xfrm>
            <a:custGeom>
              <a:avLst/>
              <a:gdLst/>
              <a:ahLst/>
              <a:cxnLst/>
              <a:rect r="r" b="b" t="t" l="l"/>
              <a:pathLst>
                <a:path h="389734" w="5076028">
                  <a:moveTo>
                    <a:pt x="8436" y="0"/>
                  </a:moveTo>
                  <a:lnTo>
                    <a:pt x="5067592" y="0"/>
                  </a:lnTo>
                  <a:cubicBezTo>
                    <a:pt x="5072251" y="0"/>
                    <a:pt x="5076028" y="3777"/>
                    <a:pt x="5076028" y="8436"/>
                  </a:cubicBezTo>
                  <a:lnTo>
                    <a:pt x="5076028" y="381298"/>
                  </a:lnTo>
                  <a:cubicBezTo>
                    <a:pt x="5076028" y="383535"/>
                    <a:pt x="5075139" y="385681"/>
                    <a:pt x="5073557" y="387263"/>
                  </a:cubicBezTo>
                  <a:cubicBezTo>
                    <a:pt x="5071975" y="388845"/>
                    <a:pt x="5069829" y="389734"/>
                    <a:pt x="5067592" y="389734"/>
                  </a:cubicBezTo>
                  <a:lnTo>
                    <a:pt x="8436" y="389734"/>
                  </a:lnTo>
                  <a:cubicBezTo>
                    <a:pt x="3777" y="389734"/>
                    <a:pt x="0" y="385957"/>
                    <a:pt x="0" y="381298"/>
                  </a:cubicBezTo>
                  <a:lnTo>
                    <a:pt x="0" y="8436"/>
                  </a:lnTo>
                  <a:cubicBezTo>
                    <a:pt x="0" y="3777"/>
                    <a:pt x="3777" y="0"/>
                    <a:pt x="843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83ABEE">
                    <a:alpha val="100000"/>
                  </a:srgbClr>
                </a:gs>
                <a:gs pos="50000">
                  <a:srgbClr val="5D82E9">
                    <a:alpha val="100000"/>
                  </a:srgbClr>
                </a:gs>
                <a:gs pos="100000">
                  <a:srgbClr val="224198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076028" cy="4278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638944" y="3791533"/>
            <a:ext cx="7030782" cy="3461823"/>
            <a:chOff x="0" y="0"/>
            <a:chExt cx="1792638" cy="88266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92638" cy="882661"/>
            </a:xfrm>
            <a:custGeom>
              <a:avLst/>
              <a:gdLst/>
              <a:ahLst/>
              <a:cxnLst/>
              <a:rect r="r" b="b" t="t" l="l"/>
              <a:pathLst>
                <a:path h="882661" w="1792638">
                  <a:moveTo>
                    <a:pt x="25326" y="0"/>
                  </a:moveTo>
                  <a:lnTo>
                    <a:pt x="1767312" y="0"/>
                  </a:lnTo>
                  <a:cubicBezTo>
                    <a:pt x="1781299" y="0"/>
                    <a:pt x="1792638" y="11339"/>
                    <a:pt x="1792638" y="25326"/>
                  </a:cubicBezTo>
                  <a:lnTo>
                    <a:pt x="1792638" y="857334"/>
                  </a:lnTo>
                  <a:cubicBezTo>
                    <a:pt x="1792638" y="871322"/>
                    <a:pt x="1781299" y="882661"/>
                    <a:pt x="1767312" y="882661"/>
                  </a:cubicBezTo>
                  <a:lnTo>
                    <a:pt x="25326" y="882661"/>
                  </a:lnTo>
                  <a:cubicBezTo>
                    <a:pt x="11339" y="882661"/>
                    <a:pt x="0" y="871322"/>
                    <a:pt x="0" y="857334"/>
                  </a:cubicBezTo>
                  <a:lnTo>
                    <a:pt x="0" y="25326"/>
                  </a:lnTo>
                  <a:cubicBezTo>
                    <a:pt x="0" y="11339"/>
                    <a:pt x="11339" y="0"/>
                    <a:pt x="2532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50000">
                  <a:srgbClr val="F9FDFF">
                    <a:alpha val="100000"/>
                  </a:srgbClr>
                </a:gs>
                <a:gs pos="100000">
                  <a:srgbClr val="E1F2FA">
                    <a:alpha val="100000"/>
                  </a:srgbClr>
                </a:gs>
              </a:gsLst>
              <a:lin ang="2700000"/>
            </a:gradFill>
            <a:ln w="38100" cap="rnd">
              <a:gradFill>
                <a:gsLst>
                  <a:gs pos="0">
                    <a:srgbClr val="FCFEFF">
                      <a:alpha val="100000"/>
                    </a:srgbClr>
                  </a:gs>
                  <a:gs pos="33333">
                    <a:srgbClr val="83ABEE">
                      <a:alpha val="100000"/>
                    </a:srgbClr>
                  </a:gs>
                  <a:gs pos="66667">
                    <a:srgbClr val="5D82E9">
                      <a:alpha val="100000"/>
                    </a:srgbClr>
                  </a:gs>
                  <a:gs pos="100000">
                    <a:srgbClr val="224198">
                      <a:alpha val="10000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792638" cy="9207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394683" y="3479565"/>
            <a:ext cx="3045686" cy="623937"/>
            <a:chOff x="0" y="0"/>
            <a:chExt cx="776558" cy="15908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776558" cy="159085"/>
            </a:xfrm>
            <a:custGeom>
              <a:avLst/>
              <a:gdLst/>
              <a:ahLst/>
              <a:cxnLst/>
              <a:rect r="r" b="b" t="t" l="l"/>
              <a:pathLst>
                <a:path h="159085" w="776558">
                  <a:moveTo>
                    <a:pt x="30503" y="0"/>
                  </a:moveTo>
                  <a:lnTo>
                    <a:pt x="746055" y="0"/>
                  </a:lnTo>
                  <a:cubicBezTo>
                    <a:pt x="762902" y="0"/>
                    <a:pt x="776558" y="13657"/>
                    <a:pt x="776558" y="30503"/>
                  </a:cubicBezTo>
                  <a:lnTo>
                    <a:pt x="776558" y="128582"/>
                  </a:lnTo>
                  <a:cubicBezTo>
                    <a:pt x="776558" y="145428"/>
                    <a:pt x="762902" y="159085"/>
                    <a:pt x="746055" y="159085"/>
                  </a:cubicBezTo>
                  <a:lnTo>
                    <a:pt x="30503" y="159085"/>
                  </a:lnTo>
                  <a:cubicBezTo>
                    <a:pt x="13657" y="159085"/>
                    <a:pt x="0" y="145428"/>
                    <a:pt x="0" y="128582"/>
                  </a:cubicBezTo>
                  <a:lnTo>
                    <a:pt x="0" y="30503"/>
                  </a:lnTo>
                  <a:cubicBezTo>
                    <a:pt x="0" y="13657"/>
                    <a:pt x="13657" y="0"/>
                    <a:pt x="3050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00501E">
                    <a:alpha val="100000"/>
                  </a:srgbClr>
                </a:gs>
                <a:gs pos="100000">
                  <a:srgbClr val="6CA62C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776558" cy="1971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1457463" y="4348273"/>
            <a:ext cx="362963" cy="362963"/>
          </a:xfrm>
          <a:custGeom>
            <a:avLst/>
            <a:gdLst/>
            <a:ahLst/>
            <a:cxnLst/>
            <a:rect r="r" b="b" t="t" l="l"/>
            <a:pathLst>
              <a:path h="362963" w="362963">
                <a:moveTo>
                  <a:pt x="0" y="0"/>
                </a:moveTo>
                <a:lnTo>
                  <a:pt x="362962" y="0"/>
                </a:lnTo>
                <a:lnTo>
                  <a:pt x="362962" y="362963"/>
                </a:lnTo>
                <a:lnTo>
                  <a:pt x="0" y="3629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457463" y="5134943"/>
            <a:ext cx="362963" cy="362963"/>
          </a:xfrm>
          <a:custGeom>
            <a:avLst/>
            <a:gdLst/>
            <a:ahLst/>
            <a:cxnLst/>
            <a:rect r="r" b="b" t="t" l="l"/>
            <a:pathLst>
              <a:path h="362963" w="362963">
                <a:moveTo>
                  <a:pt x="0" y="0"/>
                </a:moveTo>
                <a:lnTo>
                  <a:pt x="362962" y="0"/>
                </a:lnTo>
                <a:lnTo>
                  <a:pt x="362962" y="362963"/>
                </a:lnTo>
                <a:lnTo>
                  <a:pt x="0" y="3629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2662386" y="1591975"/>
            <a:ext cx="12963228" cy="840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52"/>
              </a:lnSpc>
            </a:pPr>
            <a:r>
              <a:rPr lang="en-US" sz="5600" b="true">
                <a:solidFill>
                  <a:srgbClr val="193682"/>
                </a:solidFill>
                <a:latin typeface="Inter Bold"/>
                <a:ea typeface="Inter Bold"/>
                <a:cs typeface="Inter Bold"/>
                <a:sym typeface="Inter Bold"/>
              </a:rPr>
              <a:t>Resultados Obtenidos y Obstaculos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662386" y="1091741"/>
            <a:ext cx="6423154" cy="490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23"/>
              </a:lnSpc>
            </a:pPr>
            <a:r>
              <a:rPr lang="en-US" sz="2802" spc="448">
                <a:solidFill>
                  <a:srgbClr val="C68817"/>
                </a:solidFill>
                <a:latin typeface="Inter"/>
                <a:ea typeface="Inter"/>
                <a:cs typeface="Inter"/>
                <a:sym typeface="Inter"/>
              </a:rPr>
              <a:t>CONCLUSION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027044" y="4334873"/>
            <a:ext cx="7649071" cy="3421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47"/>
              </a:lnSpc>
              <a:spcBef>
                <a:spcPct val="0"/>
              </a:spcBef>
            </a:pPr>
            <a:r>
              <a:rPr lang="en-US" sz="1962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Sistema Web estable con roles y autenticación segura.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027044" y="4949361"/>
            <a:ext cx="6153720" cy="686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47"/>
              </a:lnSpc>
              <a:spcBef>
                <a:spcPct val="0"/>
              </a:spcBef>
            </a:pPr>
            <a:r>
              <a:rPr lang="en-US" sz="1962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Importación de inventario exitosa, eliminando la carga manual.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394683" y="3596652"/>
            <a:ext cx="3045686" cy="3421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7"/>
              </a:lnSpc>
              <a:spcBef>
                <a:spcPct val="0"/>
              </a:spcBef>
            </a:pPr>
            <a:r>
              <a:rPr lang="en-US" b="true" sz="1962" spc="314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RESULTADOS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920375" y="3807101"/>
            <a:ext cx="7030782" cy="3461823"/>
            <a:chOff x="0" y="0"/>
            <a:chExt cx="1792638" cy="88266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792638" cy="882661"/>
            </a:xfrm>
            <a:custGeom>
              <a:avLst/>
              <a:gdLst/>
              <a:ahLst/>
              <a:cxnLst/>
              <a:rect r="r" b="b" t="t" l="l"/>
              <a:pathLst>
                <a:path h="882661" w="1792638">
                  <a:moveTo>
                    <a:pt x="25326" y="0"/>
                  </a:moveTo>
                  <a:lnTo>
                    <a:pt x="1767312" y="0"/>
                  </a:lnTo>
                  <a:cubicBezTo>
                    <a:pt x="1781299" y="0"/>
                    <a:pt x="1792638" y="11339"/>
                    <a:pt x="1792638" y="25326"/>
                  </a:cubicBezTo>
                  <a:lnTo>
                    <a:pt x="1792638" y="857334"/>
                  </a:lnTo>
                  <a:cubicBezTo>
                    <a:pt x="1792638" y="871322"/>
                    <a:pt x="1781299" y="882661"/>
                    <a:pt x="1767312" y="882661"/>
                  </a:cubicBezTo>
                  <a:lnTo>
                    <a:pt x="25326" y="882661"/>
                  </a:lnTo>
                  <a:cubicBezTo>
                    <a:pt x="11339" y="882661"/>
                    <a:pt x="0" y="871322"/>
                    <a:pt x="0" y="857334"/>
                  </a:cubicBezTo>
                  <a:lnTo>
                    <a:pt x="0" y="25326"/>
                  </a:lnTo>
                  <a:cubicBezTo>
                    <a:pt x="0" y="11339"/>
                    <a:pt x="11339" y="0"/>
                    <a:pt x="2532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100000"/>
                  </a:srgbClr>
                </a:gs>
                <a:gs pos="50000">
                  <a:srgbClr val="F9FDFF">
                    <a:alpha val="100000"/>
                  </a:srgbClr>
                </a:gs>
                <a:gs pos="100000">
                  <a:srgbClr val="E1F2FA">
                    <a:alpha val="100000"/>
                  </a:srgbClr>
                </a:gs>
              </a:gsLst>
              <a:lin ang="2700000"/>
            </a:gradFill>
            <a:ln w="38100" cap="rnd">
              <a:gradFill>
                <a:gsLst>
                  <a:gs pos="0">
                    <a:srgbClr val="FCFEFF">
                      <a:alpha val="100000"/>
                    </a:srgbClr>
                  </a:gs>
                  <a:gs pos="33333">
                    <a:srgbClr val="83ABEE">
                      <a:alpha val="100000"/>
                    </a:srgbClr>
                  </a:gs>
                  <a:gs pos="66667">
                    <a:srgbClr val="5D82E9">
                      <a:alpha val="100000"/>
                    </a:srgbClr>
                  </a:gs>
                  <a:gs pos="100000">
                    <a:srgbClr val="224198">
                      <a:alpha val="10000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1792638" cy="9207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676115" y="3495133"/>
            <a:ext cx="3045686" cy="623937"/>
            <a:chOff x="0" y="0"/>
            <a:chExt cx="776558" cy="159085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76558" cy="159085"/>
            </a:xfrm>
            <a:custGeom>
              <a:avLst/>
              <a:gdLst/>
              <a:ahLst/>
              <a:cxnLst/>
              <a:rect r="r" b="b" t="t" l="l"/>
              <a:pathLst>
                <a:path h="159085" w="776558">
                  <a:moveTo>
                    <a:pt x="30503" y="0"/>
                  </a:moveTo>
                  <a:lnTo>
                    <a:pt x="746055" y="0"/>
                  </a:lnTo>
                  <a:cubicBezTo>
                    <a:pt x="762902" y="0"/>
                    <a:pt x="776558" y="13657"/>
                    <a:pt x="776558" y="30503"/>
                  </a:cubicBezTo>
                  <a:lnTo>
                    <a:pt x="776558" y="128582"/>
                  </a:lnTo>
                  <a:cubicBezTo>
                    <a:pt x="776558" y="145428"/>
                    <a:pt x="762902" y="159085"/>
                    <a:pt x="746055" y="159085"/>
                  </a:cubicBezTo>
                  <a:lnTo>
                    <a:pt x="30503" y="159085"/>
                  </a:lnTo>
                  <a:cubicBezTo>
                    <a:pt x="13657" y="159085"/>
                    <a:pt x="0" y="145428"/>
                    <a:pt x="0" y="128582"/>
                  </a:cubicBezTo>
                  <a:lnTo>
                    <a:pt x="0" y="30503"/>
                  </a:lnTo>
                  <a:cubicBezTo>
                    <a:pt x="0" y="13657"/>
                    <a:pt x="13657" y="0"/>
                    <a:pt x="3050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E88B7B">
                    <a:alpha val="100000"/>
                  </a:srgbClr>
                </a:gs>
                <a:gs pos="50000">
                  <a:srgbClr val="E26655">
                    <a:alpha val="100000"/>
                  </a:srgbClr>
                </a:gs>
                <a:gs pos="100000">
                  <a:srgbClr val="B44433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776558" cy="1971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35" id="35"/>
          <p:cNvSpPr/>
          <p:nvPr/>
        </p:nvSpPr>
        <p:spPr>
          <a:xfrm flipH="false" flipV="false" rot="0">
            <a:off x="9530681" y="4509595"/>
            <a:ext cx="362963" cy="362963"/>
          </a:xfrm>
          <a:custGeom>
            <a:avLst/>
            <a:gdLst/>
            <a:ahLst/>
            <a:cxnLst/>
            <a:rect r="r" b="b" t="t" l="l"/>
            <a:pathLst>
              <a:path h="362963" w="362963">
                <a:moveTo>
                  <a:pt x="0" y="0"/>
                </a:moveTo>
                <a:lnTo>
                  <a:pt x="362962" y="0"/>
                </a:lnTo>
                <a:lnTo>
                  <a:pt x="362962" y="362962"/>
                </a:lnTo>
                <a:lnTo>
                  <a:pt x="0" y="3629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9530681" y="5057462"/>
            <a:ext cx="362963" cy="362963"/>
          </a:xfrm>
          <a:custGeom>
            <a:avLst/>
            <a:gdLst/>
            <a:ahLst/>
            <a:cxnLst/>
            <a:rect r="r" b="b" t="t" l="l"/>
            <a:pathLst>
              <a:path h="362963" w="362963">
                <a:moveTo>
                  <a:pt x="0" y="0"/>
                </a:moveTo>
                <a:lnTo>
                  <a:pt x="362962" y="0"/>
                </a:lnTo>
                <a:lnTo>
                  <a:pt x="362962" y="362962"/>
                </a:lnTo>
                <a:lnTo>
                  <a:pt x="0" y="3629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37" id="37"/>
          <p:cNvSpPr txBox="true"/>
          <p:nvPr/>
        </p:nvSpPr>
        <p:spPr>
          <a:xfrm rot="0">
            <a:off x="10100262" y="4496194"/>
            <a:ext cx="7649071" cy="3421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47"/>
              </a:lnSpc>
              <a:spcBef>
                <a:spcPct val="0"/>
              </a:spcBef>
            </a:pPr>
            <a:r>
              <a:rPr lang="en-US" sz="1962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Versiones de Python 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0100262" y="5044061"/>
            <a:ext cx="7649071" cy="3421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47"/>
              </a:lnSpc>
              <a:spcBef>
                <a:spcPct val="0"/>
              </a:spcBef>
            </a:pPr>
            <a:r>
              <a:rPr lang="en-US" sz="1962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incongruencias en GitHub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100262" y="5591928"/>
            <a:ext cx="6437647" cy="686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47"/>
              </a:lnSpc>
              <a:spcBef>
                <a:spcPct val="0"/>
              </a:spcBef>
            </a:pPr>
            <a:r>
              <a:rPr lang="en-US" sz="1962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Dificultad en enviar correo con datos del nuevo usuario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676115" y="3612220"/>
            <a:ext cx="3045686" cy="3421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7"/>
              </a:lnSpc>
              <a:spcBef>
                <a:spcPct val="0"/>
              </a:spcBef>
            </a:pPr>
            <a:r>
              <a:rPr lang="en-US" b="true" sz="1962" spc="314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OBSTACULOS</a:t>
            </a:r>
          </a:p>
        </p:txBody>
      </p:sp>
      <p:sp>
        <p:nvSpPr>
          <p:cNvPr name="Freeform 41" id="41"/>
          <p:cNvSpPr/>
          <p:nvPr/>
        </p:nvSpPr>
        <p:spPr>
          <a:xfrm flipH="false" flipV="false" rot="0">
            <a:off x="9530681" y="5605328"/>
            <a:ext cx="362963" cy="362963"/>
          </a:xfrm>
          <a:custGeom>
            <a:avLst/>
            <a:gdLst/>
            <a:ahLst/>
            <a:cxnLst/>
            <a:rect r="r" b="b" t="t" l="l"/>
            <a:pathLst>
              <a:path h="362963" w="362963">
                <a:moveTo>
                  <a:pt x="0" y="0"/>
                </a:moveTo>
                <a:lnTo>
                  <a:pt x="362962" y="0"/>
                </a:lnTo>
                <a:lnTo>
                  <a:pt x="362962" y="362963"/>
                </a:lnTo>
                <a:lnTo>
                  <a:pt x="0" y="3629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2" id="42"/>
          <p:cNvSpPr/>
          <p:nvPr/>
        </p:nvSpPr>
        <p:spPr>
          <a:xfrm flipH="false" flipV="false" rot="0">
            <a:off x="1457463" y="5907481"/>
            <a:ext cx="362963" cy="362963"/>
          </a:xfrm>
          <a:custGeom>
            <a:avLst/>
            <a:gdLst/>
            <a:ahLst/>
            <a:cxnLst/>
            <a:rect r="r" b="b" t="t" l="l"/>
            <a:pathLst>
              <a:path h="362963" w="362963">
                <a:moveTo>
                  <a:pt x="0" y="0"/>
                </a:moveTo>
                <a:lnTo>
                  <a:pt x="362962" y="0"/>
                </a:lnTo>
                <a:lnTo>
                  <a:pt x="362962" y="362963"/>
                </a:lnTo>
                <a:lnTo>
                  <a:pt x="0" y="3629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3" id="43"/>
          <p:cNvSpPr txBox="true"/>
          <p:nvPr/>
        </p:nvSpPr>
        <p:spPr>
          <a:xfrm rot="0">
            <a:off x="1964264" y="5739739"/>
            <a:ext cx="6153720" cy="686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747"/>
              </a:lnSpc>
              <a:spcBef>
                <a:spcPct val="0"/>
              </a:spcBef>
            </a:pPr>
            <a:r>
              <a:rPr lang="en-US" sz="1962">
                <a:solidFill>
                  <a:srgbClr val="193682"/>
                </a:solidFill>
                <a:latin typeface="Inter"/>
                <a:ea typeface="Inter"/>
                <a:cs typeface="Inter"/>
                <a:sym typeface="Inter"/>
              </a:rPr>
              <a:t>Dashboard funcional con KPIs y alertas de quiebre en tiempo real.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FFFFFF">
                <a:alpha val="100000"/>
              </a:srgbClr>
            </a:gs>
            <a:gs pos="50000">
              <a:srgbClr val="F8FDFF">
                <a:alpha val="100000"/>
              </a:srgbClr>
            </a:gs>
            <a:gs pos="100000">
              <a:srgbClr val="EFFAFF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10604" y="2656332"/>
            <a:ext cx="15448696" cy="4155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52"/>
              </a:lnSpc>
            </a:pPr>
            <a:r>
              <a:rPr lang="en-US" sz="5600" b="true">
                <a:solidFill>
                  <a:srgbClr val="193682"/>
                </a:solidFill>
                <a:latin typeface="Inter Bold"/>
                <a:ea typeface="Inter Bold"/>
                <a:cs typeface="Inter Bold"/>
                <a:sym typeface="Inter Bold"/>
              </a:rPr>
              <a:t>https://www.canva.com/design/DAG5GYnlGIA/Wmik8SWI1wiSLyiWmlH0cA/edit?utm_content=DAG5GYnlGIA&amp;utm_campaign=designshare&amp;utm_medium=link2&amp;utm_source=sharebutton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DAG5GYnlGIA</dc:identifier>
  <dcterms:modified xsi:type="dcterms:W3CDTF">2011-08-01T06:04:30Z</dcterms:modified>
  <cp:revision>1</cp:revision>
  <dc:title>INVEX</dc:title>
</cp:coreProperties>
</file>