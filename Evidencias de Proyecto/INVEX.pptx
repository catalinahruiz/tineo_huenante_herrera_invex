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Inter Bold" charset="1" panose="020B0802030000000004"/>
      <p:regular r:id="rId20"/>
    </p:embeddedFont>
    <p:embeddedFont>
      <p:font typeface="Inter" charset="1" panose="020B050203000000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84135" y="31425"/>
            <a:ext cx="11371652" cy="10454460"/>
          </a:xfrm>
          <a:custGeom>
            <a:avLst/>
            <a:gdLst/>
            <a:ahLst/>
            <a:cxnLst/>
            <a:rect r="r" b="b" t="t" l="l"/>
            <a:pathLst>
              <a:path h="10454460" w="11371652">
                <a:moveTo>
                  <a:pt x="0" y="0"/>
                </a:moveTo>
                <a:lnTo>
                  <a:pt x="11371652" y="0"/>
                </a:lnTo>
                <a:lnTo>
                  <a:pt x="11371652" y="10454460"/>
                </a:lnTo>
                <a:lnTo>
                  <a:pt x="0" y="1045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60" t="0" r="-276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61607" y="3480939"/>
            <a:ext cx="15451819" cy="3569103"/>
            <a:chOff x="0" y="0"/>
            <a:chExt cx="4069615" cy="940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9615" cy="940011"/>
            </a:xfrm>
            <a:custGeom>
              <a:avLst/>
              <a:gdLst/>
              <a:ahLst/>
              <a:cxnLst/>
              <a:rect r="r" b="b" t="t" l="l"/>
              <a:pathLst>
                <a:path h="940011" w="4069615">
                  <a:moveTo>
                    <a:pt x="10522" y="0"/>
                  </a:moveTo>
                  <a:lnTo>
                    <a:pt x="4059093" y="0"/>
                  </a:lnTo>
                  <a:cubicBezTo>
                    <a:pt x="4064904" y="0"/>
                    <a:pt x="4069615" y="4711"/>
                    <a:pt x="4069615" y="10522"/>
                  </a:cubicBezTo>
                  <a:lnTo>
                    <a:pt x="4069615" y="929489"/>
                  </a:lnTo>
                  <a:cubicBezTo>
                    <a:pt x="4069615" y="935300"/>
                    <a:pt x="4064904" y="940011"/>
                    <a:pt x="4059093" y="940011"/>
                  </a:cubicBezTo>
                  <a:lnTo>
                    <a:pt x="10522" y="940011"/>
                  </a:lnTo>
                  <a:cubicBezTo>
                    <a:pt x="4711" y="940011"/>
                    <a:pt x="0" y="935300"/>
                    <a:pt x="0" y="929489"/>
                  </a:cubicBezTo>
                  <a:lnTo>
                    <a:pt x="0" y="10522"/>
                  </a:lnTo>
                  <a:cubicBezTo>
                    <a:pt x="0" y="4711"/>
                    <a:pt x="4711" y="0"/>
                    <a:pt x="105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69615" cy="978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94291" y="6599149"/>
            <a:ext cx="7434120" cy="1039585"/>
            <a:chOff x="0" y="0"/>
            <a:chExt cx="1957957" cy="273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7957" cy="273800"/>
            </a:xfrm>
            <a:custGeom>
              <a:avLst/>
              <a:gdLst/>
              <a:ahLst/>
              <a:cxnLst/>
              <a:rect r="r" b="b" t="t" l="l"/>
              <a:pathLst>
                <a:path h="273800" w="1957957">
                  <a:moveTo>
                    <a:pt x="21869" y="0"/>
                  </a:moveTo>
                  <a:lnTo>
                    <a:pt x="1936088" y="0"/>
                  </a:lnTo>
                  <a:cubicBezTo>
                    <a:pt x="1948166" y="0"/>
                    <a:pt x="1957957" y="9791"/>
                    <a:pt x="1957957" y="21869"/>
                  </a:cubicBezTo>
                  <a:lnTo>
                    <a:pt x="1957957" y="251931"/>
                  </a:lnTo>
                  <a:cubicBezTo>
                    <a:pt x="1957957" y="264009"/>
                    <a:pt x="1948166" y="273800"/>
                    <a:pt x="1936088" y="273800"/>
                  </a:cubicBezTo>
                  <a:lnTo>
                    <a:pt x="21869" y="273800"/>
                  </a:lnTo>
                  <a:cubicBezTo>
                    <a:pt x="9791" y="273800"/>
                    <a:pt x="0" y="264009"/>
                    <a:pt x="0" y="251931"/>
                  </a:cubicBezTo>
                  <a:lnTo>
                    <a:pt x="0" y="21869"/>
                  </a:lnTo>
                  <a:cubicBezTo>
                    <a:pt x="0" y="9791"/>
                    <a:pt x="9791" y="0"/>
                    <a:pt x="218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7C61D">
                    <a:alpha val="100000"/>
                  </a:srgbClr>
                </a:gs>
                <a:gs pos="50000">
                  <a:srgbClr val="CEA20B">
                    <a:alpha val="100000"/>
                  </a:srgbClr>
                </a:gs>
                <a:gs pos="100000">
                  <a:srgbClr val="D39505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9525"/>
              <a:ext cx="1957957" cy="2642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103833" y="404707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65406" y="8030715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84933">
            <a:off x="11325215" y="1819332"/>
            <a:ext cx="1028004" cy="102800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662074">
            <a:off x="5819525" y="9196894"/>
            <a:ext cx="2180212" cy="218021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3143913">
            <a:off x="206036" y="8701691"/>
            <a:ext cx="1314926" cy="131492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7718068">
            <a:off x="14035606" y="-1298960"/>
            <a:ext cx="3927080" cy="392708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80524" y="31425"/>
            <a:ext cx="9224524" cy="10454460"/>
          </a:xfrm>
          <a:custGeom>
            <a:avLst/>
            <a:gdLst/>
            <a:ahLst/>
            <a:cxnLst/>
            <a:rect r="r" b="b" t="t" l="l"/>
            <a:pathLst>
              <a:path h="10454460" w="9224524">
                <a:moveTo>
                  <a:pt x="0" y="0"/>
                </a:moveTo>
                <a:lnTo>
                  <a:pt x="9224524" y="0"/>
                </a:lnTo>
                <a:lnTo>
                  <a:pt x="9224524" y="10454460"/>
                </a:lnTo>
                <a:lnTo>
                  <a:pt x="0" y="104544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475436" y="4425004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52"/>
              </a:lnSpc>
            </a:pPr>
            <a:r>
              <a:rPr lang="en-US" b="true" sz="5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PROYECTO INVEX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5257" y="5338824"/>
            <a:ext cx="6423154" cy="148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23"/>
              </a:lnSpc>
            </a:pPr>
            <a:r>
              <a:rPr lang="en-US" sz="2802" spc="44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PRESENTACIÓN FINAL CAPSTONE</a:t>
            </a:r>
          </a:p>
          <a:p>
            <a:pPr algn="r">
              <a:lnSpc>
                <a:spcPts val="3923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533391" y="6824712"/>
            <a:ext cx="304560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iNTEGRANTES: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31762" y="6800582"/>
            <a:ext cx="524522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CATALINA HERRERA, </a:t>
            </a:r>
            <a:r>
              <a:rPr lang="en-US" b="true" sz="18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ARACELI HUENANTE Y ANDERSON TINEO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08297" y="3253066"/>
            <a:ext cx="7467621" cy="746762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48925" y="2246402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4933">
            <a:off x="13829072" y="1514530"/>
            <a:ext cx="1463744" cy="146374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84933">
            <a:off x="5047621" y="1984463"/>
            <a:ext cx="622170" cy="62217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221148" y="8802600"/>
            <a:ext cx="2046862" cy="1831941"/>
          </a:xfrm>
          <a:custGeom>
            <a:avLst/>
            <a:gdLst/>
            <a:ahLst/>
            <a:cxnLst/>
            <a:rect r="r" b="b" t="t" l="l"/>
            <a:pathLst>
              <a:path h="1831941" w="2046862">
                <a:moveTo>
                  <a:pt x="0" y="0"/>
                </a:moveTo>
                <a:lnTo>
                  <a:pt x="2046862" y="0"/>
                </a:lnTo>
                <a:lnTo>
                  <a:pt x="2046862" y="1831942"/>
                </a:lnTo>
                <a:lnTo>
                  <a:pt x="0" y="1831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-84933">
            <a:off x="-783175" y="8701542"/>
            <a:ext cx="1566350" cy="156635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7718068">
            <a:off x="6189835" y="-686890"/>
            <a:ext cx="2527551" cy="252755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-2590088">
            <a:off x="16959205" y="3202636"/>
            <a:ext cx="998837" cy="99883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254411" y="9737615"/>
            <a:ext cx="19273043" cy="1479770"/>
            <a:chOff x="0" y="0"/>
            <a:chExt cx="5076028" cy="3897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76028" cy="389734"/>
            </a:xfrm>
            <a:custGeom>
              <a:avLst/>
              <a:gdLst/>
              <a:ahLst/>
              <a:cxnLst/>
              <a:rect r="r" b="b" t="t" l="l"/>
              <a:pathLst>
                <a:path h="389734" w="5076028">
                  <a:moveTo>
                    <a:pt x="8436" y="0"/>
                  </a:moveTo>
                  <a:lnTo>
                    <a:pt x="5067592" y="0"/>
                  </a:lnTo>
                  <a:cubicBezTo>
                    <a:pt x="5072251" y="0"/>
                    <a:pt x="5076028" y="3777"/>
                    <a:pt x="5076028" y="8436"/>
                  </a:cubicBezTo>
                  <a:lnTo>
                    <a:pt x="5076028" y="381298"/>
                  </a:lnTo>
                  <a:cubicBezTo>
                    <a:pt x="5076028" y="383535"/>
                    <a:pt x="5075139" y="385681"/>
                    <a:pt x="5073557" y="387263"/>
                  </a:cubicBezTo>
                  <a:cubicBezTo>
                    <a:pt x="5071975" y="388845"/>
                    <a:pt x="5069829" y="389734"/>
                    <a:pt x="5067592" y="389734"/>
                  </a:cubicBezTo>
                  <a:lnTo>
                    <a:pt x="8436" y="389734"/>
                  </a:lnTo>
                  <a:cubicBezTo>
                    <a:pt x="3777" y="389734"/>
                    <a:pt x="0" y="385957"/>
                    <a:pt x="0" y="381298"/>
                  </a:cubicBezTo>
                  <a:lnTo>
                    <a:pt x="0" y="8436"/>
                  </a:lnTo>
                  <a:cubicBezTo>
                    <a:pt x="0" y="3777"/>
                    <a:pt x="3777" y="0"/>
                    <a:pt x="84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076028" cy="427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-583674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198899" y="1028700"/>
            <a:ext cx="15758674" cy="9080936"/>
          </a:xfrm>
          <a:custGeom>
            <a:avLst/>
            <a:gdLst/>
            <a:ahLst/>
            <a:cxnLst/>
            <a:rect r="r" b="b" t="t" l="l"/>
            <a:pathLst>
              <a:path h="9080936" w="15758674">
                <a:moveTo>
                  <a:pt x="0" y="0"/>
                </a:moveTo>
                <a:lnTo>
                  <a:pt x="15758674" y="0"/>
                </a:lnTo>
                <a:lnTo>
                  <a:pt x="15758674" y="9080936"/>
                </a:lnTo>
                <a:lnTo>
                  <a:pt x="0" y="9080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18981" y="3047782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Definición del Proyecto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8981" y="2547548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8981" y="4625703"/>
            <a:ext cx="8604642" cy="2715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Invex es una plataforma web diseñada para Pymes que </a:t>
            </a:r>
            <a:r>
              <a:rPr lang="en-US" b="true" sz="2207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centraliza la gestión de inventario 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y</a:t>
            </a:r>
            <a:r>
              <a:rPr lang="en-US" b="true" sz="2207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 utiliza Inteligencia Artificial para generar reportes y recomendaciones inteligentes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. Nuestra línea de desarrollo se enfoca en transformar el stock de un </a:t>
            </a:r>
            <a:r>
              <a:rPr lang="en-US" b="true" sz="2207">
                <a:solidFill>
                  <a:srgbClr val="C53441"/>
                </a:solidFill>
                <a:latin typeface="Inter Bold"/>
                <a:ea typeface="Inter Bold"/>
                <a:cs typeface="Inter Bold"/>
                <a:sym typeface="Inter Bold"/>
              </a:rPr>
              <a:t>costo operativo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207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a un activo de inversión</a:t>
            </a:r>
            <a:r>
              <a:rPr lang="en-US" sz="2207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, solucionando la falta de digitalización mediante una arquitectura web moderna y escalable.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6493672">
            <a:off x="11363943" y="-4178353"/>
            <a:ext cx="11790714" cy="1179071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383803" y="382153"/>
            <a:ext cx="8415086" cy="8383529"/>
          </a:xfrm>
          <a:custGeom>
            <a:avLst/>
            <a:gdLst/>
            <a:ahLst/>
            <a:cxnLst/>
            <a:rect r="r" b="b" t="t" l="l"/>
            <a:pathLst>
              <a:path h="8383529" w="8415086">
                <a:moveTo>
                  <a:pt x="0" y="0"/>
                </a:moveTo>
                <a:lnTo>
                  <a:pt x="8415086" y="0"/>
                </a:lnTo>
                <a:lnTo>
                  <a:pt x="8415086" y="8383530"/>
                </a:lnTo>
                <a:lnTo>
                  <a:pt x="0" y="8383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1504" y="3154815"/>
            <a:ext cx="4715226" cy="617606"/>
            <a:chOff x="0" y="0"/>
            <a:chExt cx="1147770" cy="1503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7770" cy="150336"/>
            </a:xfrm>
            <a:custGeom>
              <a:avLst/>
              <a:gdLst/>
              <a:ahLst/>
              <a:cxnLst/>
              <a:rect r="r" b="b" t="t" l="l"/>
              <a:pathLst>
                <a:path h="150336" w="1147770">
                  <a:moveTo>
                    <a:pt x="37764" y="0"/>
                  </a:moveTo>
                  <a:lnTo>
                    <a:pt x="1110007" y="0"/>
                  </a:lnTo>
                  <a:cubicBezTo>
                    <a:pt x="1120022" y="0"/>
                    <a:pt x="1129627" y="3979"/>
                    <a:pt x="1136709" y="11061"/>
                  </a:cubicBezTo>
                  <a:cubicBezTo>
                    <a:pt x="1143792" y="18143"/>
                    <a:pt x="1147770" y="27748"/>
                    <a:pt x="1147770" y="37764"/>
                  </a:cubicBezTo>
                  <a:lnTo>
                    <a:pt x="1147770" y="112573"/>
                  </a:lnTo>
                  <a:cubicBezTo>
                    <a:pt x="1147770" y="122588"/>
                    <a:pt x="1143792" y="132194"/>
                    <a:pt x="1136709" y="139276"/>
                  </a:cubicBezTo>
                  <a:cubicBezTo>
                    <a:pt x="1129627" y="146358"/>
                    <a:pt x="1120022" y="150336"/>
                    <a:pt x="1110007" y="150336"/>
                  </a:cubicBezTo>
                  <a:lnTo>
                    <a:pt x="37764" y="150336"/>
                  </a:lnTo>
                  <a:cubicBezTo>
                    <a:pt x="27748" y="150336"/>
                    <a:pt x="18143" y="146358"/>
                    <a:pt x="11061" y="139276"/>
                  </a:cubicBezTo>
                  <a:cubicBezTo>
                    <a:pt x="3979" y="132194"/>
                    <a:pt x="0" y="122588"/>
                    <a:pt x="0" y="112573"/>
                  </a:cubicBezTo>
                  <a:lnTo>
                    <a:pt x="0" y="37764"/>
                  </a:lnTo>
                  <a:cubicBezTo>
                    <a:pt x="0" y="27748"/>
                    <a:pt x="3979" y="18143"/>
                    <a:pt x="11061" y="11061"/>
                  </a:cubicBezTo>
                  <a:cubicBezTo>
                    <a:pt x="18143" y="3979"/>
                    <a:pt x="27748" y="0"/>
                    <a:pt x="3776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47770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5690" y="2959300"/>
            <a:ext cx="825503" cy="813121"/>
          </a:xfrm>
          <a:custGeom>
            <a:avLst/>
            <a:gdLst/>
            <a:ahLst/>
            <a:cxnLst/>
            <a:rect r="r" b="b" t="t" l="l"/>
            <a:pathLst>
              <a:path h="813121" w="825503">
                <a:moveTo>
                  <a:pt x="0" y="0"/>
                </a:moveTo>
                <a:lnTo>
                  <a:pt x="825504" y="0"/>
                </a:lnTo>
                <a:lnTo>
                  <a:pt x="825504" y="813121"/>
                </a:lnTo>
                <a:lnTo>
                  <a:pt x="0" y="813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842047" y="3120415"/>
            <a:ext cx="4788497" cy="610725"/>
            <a:chOff x="0" y="0"/>
            <a:chExt cx="1178738" cy="150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78738" cy="150336"/>
            </a:xfrm>
            <a:custGeom>
              <a:avLst/>
              <a:gdLst/>
              <a:ahLst/>
              <a:cxnLst/>
              <a:rect r="r" b="b" t="t" l="l"/>
              <a:pathLst>
                <a:path h="150336" w="1178738">
                  <a:moveTo>
                    <a:pt x="37186" y="0"/>
                  </a:moveTo>
                  <a:lnTo>
                    <a:pt x="1141552" y="0"/>
                  </a:lnTo>
                  <a:cubicBezTo>
                    <a:pt x="1162089" y="0"/>
                    <a:pt x="1178738" y="16649"/>
                    <a:pt x="1178738" y="37186"/>
                  </a:cubicBezTo>
                  <a:lnTo>
                    <a:pt x="1178738" y="113150"/>
                  </a:lnTo>
                  <a:cubicBezTo>
                    <a:pt x="1178738" y="133688"/>
                    <a:pt x="1162089" y="150336"/>
                    <a:pt x="1141552" y="150336"/>
                  </a:cubicBezTo>
                  <a:lnTo>
                    <a:pt x="37186" y="150336"/>
                  </a:lnTo>
                  <a:cubicBezTo>
                    <a:pt x="27324" y="150336"/>
                    <a:pt x="17865" y="146419"/>
                    <a:pt x="10891" y="139445"/>
                  </a:cubicBezTo>
                  <a:cubicBezTo>
                    <a:pt x="3918" y="132471"/>
                    <a:pt x="0" y="123013"/>
                    <a:pt x="0" y="113150"/>
                  </a:cubicBezTo>
                  <a:lnTo>
                    <a:pt x="0" y="37186"/>
                  </a:lnTo>
                  <a:cubicBezTo>
                    <a:pt x="0" y="27324"/>
                    <a:pt x="3918" y="17865"/>
                    <a:pt x="10891" y="10891"/>
                  </a:cubicBezTo>
                  <a:cubicBezTo>
                    <a:pt x="17865" y="3918"/>
                    <a:pt x="27324" y="0"/>
                    <a:pt x="3718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78738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069781" y="3007043"/>
            <a:ext cx="1204106" cy="833843"/>
          </a:xfrm>
          <a:custGeom>
            <a:avLst/>
            <a:gdLst/>
            <a:ahLst/>
            <a:cxnLst/>
            <a:rect r="r" b="b" t="t" l="l"/>
            <a:pathLst>
              <a:path h="833843" w="1204106">
                <a:moveTo>
                  <a:pt x="0" y="0"/>
                </a:moveTo>
                <a:lnTo>
                  <a:pt x="1204106" y="0"/>
                </a:lnTo>
                <a:lnTo>
                  <a:pt x="1204106" y="833843"/>
                </a:lnTo>
                <a:lnTo>
                  <a:pt x="0" y="833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938509"/>
            <a:ext cx="10807258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b="true" sz="5600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PROBLEMÁTICA Y SOLUCIÓN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438275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4716" y="3187587"/>
            <a:ext cx="3765217" cy="41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2"/>
              </a:lnSpc>
              <a:spcBef>
                <a:spcPct val="0"/>
              </a:spcBef>
            </a:pPr>
            <a:r>
              <a:rPr lang="en-US" b="true" sz="238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PROBLEMÁTICA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55732" y="3199129"/>
            <a:ext cx="3723271" cy="40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5"/>
              </a:lnSpc>
              <a:spcBef>
                <a:spcPct val="0"/>
              </a:spcBef>
            </a:pPr>
            <a:r>
              <a:rPr lang="en-US" b="true" sz="23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SOLUCIÓN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707400" y="9357206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335797" y="-142646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-7718068">
            <a:off x="16838435" y="8936341"/>
            <a:ext cx="841730" cy="84173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93310" y="4398341"/>
            <a:ext cx="4027738" cy="1247100"/>
            <a:chOff x="0" y="0"/>
            <a:chExt cx="1060804" cy="3284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00501E">
                      <a:alpha val="100000"/>
                    </a:srgbClr>
                  </a:gs>
                  <a:gs pos="100000">
                    <a:srgbClr val="6CA62C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540522" y="4699157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Plataforma web con carga masiva y control total.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540522" y="4004524"/>
            <a:ext cx="3410216" cy="570808"/>
            <a:chOff x="0" y="0"/>
            <a:chExt cx="898164" cy="150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2A8513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557994" y="4085919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Gestión Centralizada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222427" y="6371697"/>
            <a:ext cx="4027738" cy="1247100"/>
            <a:chOff x="0" y="0"/>
            <a:chExt cx="1060804" cy="3284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00501E">
                      <a:alpha val="100000"/>
                    </a:srgbClr>
                  </a:gs>
                  <a:gs pos="100000">
                    <a:srgbClr val="6CA62C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496337" y="6582148"/>
            <a:ext cx="3479917" cy="117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Recomendaciones de compra al tener un producto critico y de como vender productos inactivos  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569639" y="5977879"/>
            <a:ext cx="3410216" cy="570808"/>
            <a:chOff x="0" y="0"/>
            <a:chExt cx="898164" cy="1503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2A8513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6587111" y="6059275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Recomendaciones IA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284083" y="8288838"/>
            <a:ext cx="4027738" cy="1247100"/>
            <a:chOff x="0" y="0"/>
            <a:chExt cx="1060804" cy="3284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00501E">
                      <a:alpha val="100000"/>
                    </a:srgbClr>
                  </a:gs>
                  <a:gs pos="100000">
                    <a:srgbClr val="6CA62C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631295" y="8589654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Visualización de KPIs y alertas en tiempo real.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6631295" y="7895021"/>
            <a:ext cx="3410216" cy="570808"/>
            <a:chOff x="0" y="0"/>
            <a:chExt cx="898164" cy="150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2A851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6648768" y="7976416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Dashboard Estratégico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14716" y="4537713"/>
            <a:ext cx="4027738" cy="1247100"/>
            <a:chOff x="0" y="0"/>
            <a:chExt cx="1060804" cy="32845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solidFill>
                <a:srgbClr val="C53441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061929" y="4838529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Procesos manuales que generan errores y fugas de dinero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61929" y="4143896"/>
            <a:ext cx="3410216" cy="570808"/>
            <a:chOff x="0" y="0"/>
            <a:chExt cx="898164" cy="1503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C53441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79401" y="4225291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Falta de Control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743833" y="6511068"/>
            <a:ext cx="4027738" cy="1247100"/>
            <a:chOff x="0" y="0"/>
            <a:chExt cx="1060804" cy="32845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solidFill>
                <a:srgbClr val="C53441"/>
              </a:solidFill>
              <a:prstDash val="solid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91045" y="6811884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Pérdida de ventas por no tener producto crítico.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91045" y="6117251"/>
            <a:ext cx="3410216" cy="570808"/>
            <a:chOff x="0" y="0"/>
            <a:chExt cx="898164" cy="150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C53441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108517" y="6198646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Quiebres de Stock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805490" y="8428210"/>
            <a:ext cx="4027738" cy="1247100"/>
            <a:chOff x="0" y="0"/>
            <a:chExt cx="1060804" cy="32845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60804" cy="328454"/>
            </a:xfrm>
            <a:custGeom>
              <a:avLst/>
              <a:gdLst/>
              <a:ahLst/>
              <a:cxnLst/>
              <a:rect r="r" b="b" t="t" l="l"/>
              <a:pathLst>
                <a:path h="328454" w="1060804">
                  <a:moveTo>
                    <a:pt x="44209" y="0"/>
                  </a:moveTo>
                  <a:lnTo>
                    <a:pt x="1016594" y="0"/>
                  </a:lnTo>
                  <a:cubicBezTo>
                    <a:pt x="1041010" y="0"/>
                    <a:pt x="1060804" y="19793"/>
                    <a:pt x="1060804" y="44209"/>
                  </a:cubicBezTo>
                  <a:lnTo>
                    <a:pt x="1060804" y="284245"/>
                  </a:lnTo>
                  <a:cubicBezTo>
                    <a:pt x="1060804" y="308661"/>
                    <a:pt x="1041010" y="328454"/>
                    <a:pt x="1016594" y="328454"/>
                  </a:cubicBezTo>
                  <a:lnTo>
                    <a:pt x="44209" y="328454"/>
                  </a:lnTo>
                  <a:cubicBezTo>
                    <a:pt x="19793" y="328454"/>
                    <a:pt x="0" y="308661"/>
                    <a:pt x="0" y="284245"/>
                  </a:cubicBezTo>
                  <a:lnTo>
                    <a:pt x="0" y="44209"/>
                  </a:lnTo>
                  <a:cubicBezTo>
                    <a:pt x="0" y="19793"/>
                    <a:pt x="19793" y="0"/>
                    <a:pt x="442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solidFill>
                <a:srgbClr val="C53441"/>
              </a:solidFill>
              <a:prstDash val="solid"/>
              <a:round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60804" cy="366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152702" y="8729026"/>
            <a:ext cx="3479917" cy="5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Exceso de mercancía "Inactiva" que aumenta costos.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52702" y="8034393"/>
            <a:ext cx="3410216" cy="570808"/>
            <a:chOff x="0" y="0"/>
            <a:chExt cx="898164" cy="150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98164" cy="150336"/>
            </a:xfrm>
            <a:custGeom>
              <a:avLst/>
              <a:gdLst/>
              <a:ahLst/>
              <a:cxnLst/>
              <a:rect r="r" b="b" t="t" l="l"/>
              <a:pathLst>
                <a:path h="150336" w="898164">
                  <a:moveTo>
                    <a:pt x="52215" y="0"/>
                  </a:moveTo>
                  <a:lnTo>
                    <a:pt x="845949" y="0"/>
                  </a:lnTo>
                  <a:cubicBezTo>
                    <a:pt x="859797" y="0"/>
                    <a:pt x="873078" y="5501"/>
                    <a:pt x="882870" y="15293"/>
                  </a:cubicBezTo>
                  <a:cubicBezTo>
                    <a:pt x="892663" y="25086"/>
                    <a:pt x="898164" y="38367"/>
                    <a:pt x="898164" y="52215"/>
                  </a:cubicBezTo>
                  <a:lnTo>
                    <a:pt x="898164" y="98121"/>
                  </a:lnTo>
                  <a:cubicBezTo>
                    <a:pt x="898164" y="111970"/>
                    <a:pt x="892663" y="125251"/>
                    <a:pt x="882870" y="135043"/>
                  </a:cubicBezTo>
                  <a:cubicBezTo>
                    <a:pt x="873078" y="144835"/>
                    <a:pt x="859797" y="150336"/>
                    <a:pt x="845949" y="150336"/>
                  </a:cubicBezTo>
                  <a:lnTo>
                    <a:pt x="52215" y="150336"/>
                  </a:lnTo>
                  <a:cubicBezTo>
                    <a:pt x="38367" y="150336"/>
                    <a:pt x="25086" y="144835"/>
                    <a:pt x="15293" y="135043"/>
                  </a:cubicBezTo>
                  <a:cubicBezTo>
                    <a:pt x="5501" y="125251"/>
                    <a:pt x="0" y="111970"/>
                    <a:pt x="0" y="98121"/>
                  </a:cubicBezTo>
                  <a:lnTo>
                    <a:pt x="0" y="52215"/>
                  </a:lnTo>
                  <a:cubicBezTo>
                    <a:pt x="0" y="38367"/>
                    <a:pt x="5501" y="25086"/>
                    <a:pt x="15293" y="15293"/>
                  </a:cubicBezTo>
                  <a:cubicBezTo>
                    <a:pt x="25086" y="5501"/>
                    <a:pt x="38367" y="0"/>
                    <a:pt x="52215" y="0"/>
                  </a:cubicBezTo>
                  <a:close/>
                </a:path>
              </a:pathLst>
            </a:custGeom>
            <a:solidFill>
              <a:srgbClr val="C53441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98164" cy="188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170174" y="8115788"/>
            <a:ext cx="347991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Sobre Stock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9550" y="2357473"/>
            <a:ext cx="2303781" cy="2061884"/>
          </a:xfrm>
          <a:custGeom>
            <a:avLst/>
            <a:gdLst/>
            <a:ahLst/>
            <a:cxnLst/>
            <a:rect r="r" b="b" t="t" l="l"/>
            <a:pathLst>
              <a:path h="2061884" w="2303781">
                <a:moveTo>
                  <a:pt x="0" y="0"/>
                </a:moveTo>
                <a:lnTo>
                  <a:pt x="2303782" y="0"/>
                </a:lnTo>
                <a:lnTo>
                  <a:pt x="2303782" y="2061885"/>
                </a:lnTo>
                <a:lnTo>
                  <a:pt x="0" y="20618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07481" y="3513277"/>
            <a:ext cx="15451819" cy="3569103"/>
            <a:chOff x="0" y="0"/>
            <a:chExt cx="4069615" cy="9400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9615" cy="940011"/>
            </a:xfrm>
            <a:custGeom>
              <a:avLst/>
              <a:gdLst/>
              <a:ahLst/>
              <a:cxnLst/>
              <a:rect r="r" b="b" t="t" l="l"/>
              <a:pathLst>
                <a:path h="940011" w="4069615">
                  <a:moveTo>
                    <a:pt x="10522" y="0"/>
                  </a:moveTo>
                  <a:lnTo>
                    <a:pt x="4059093" y="0"/>
                  </a:lnTo>
                  <a:cubicBezTo>
                    <a:pt x="4064904" y="0"/>
                    <a:pt x="4069615" y="4711"/>
                    <a:pt x="4069615" y="10522"/>
                  </a:cubicBezTo>
                  <a:lnTo>
                    <a:pt x="4069615" y="929489"/>
                  </a:lnTo>
                  <a:cubicBezTo>
                    <a:pt x="4069615" y="935300"/>
                    <a:pt x="4064904" y="940011"/>
                    <a:pt x="4059093" y="940011"/>
                  </a:cubicBezTo>
                  <a:lnTo>
                    <a:pt x="10522" y="940011"/>
                  </a:lnTo>
                  <a:cubicBezTo>
                    <a:pt x="4711" y="940011"/>
                    <a:pt x="0" y="935300"/>
                    <a:pt x="0" y="929489"/>
                  </a:cubicBezTo>
                  <a:lnTo>
                    <a:pt x="0" y="10522"/>
                  </a:lnTo>
                  <a:cubicBezTo>
                    <a:pt x="0" y="4711"/>
                    <a:pt x="4711" y="0"/>
                    <a:pt x="1052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69615" cy="978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3133427">
            <a:off x="897610" y="977422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2" y="0"/>
                </a:lnTo>
                <a:lnTo>
                  <a:pt x="1443572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937989">
            <a:off x="5753650" y="473498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2" y="0"/>
                </a:lnTo>
                <a:lnTo>
                  <a:pt x="1443572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2971382">
            <a:off x="15868774" y="7917081"/>
            <a:ext cx="3176269" cy="317626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2971382">
            <a:off x="345777" y="4103203"/>
            <a:ext cx="1213129" cy="121312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9147693">
            <a:off x="8884920" y="-3059290"/>
            <a:ext cx="4232519" cy="423251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5035225" y="-42226"/>
            <a:ext cx="3283515" cy="2938746"/>
          </a:xfrm>
          <a:custGeom>
            <a:avLst/>
            <a:gdLst/>
            <a:ahLst/>
            <a:cxnLst/>
            <a:rect r="r" b="b" t="t" l="l"/>
            <a:pathLst>
              <a:path h="2938746" w="3283515">
                <a:moveTo>
                  <a:pt x="0" y="0"/>
                </a:moveTo>
                <a:lnTo>
                  <a:pt x="3283515" y="0"/>
                </a:lnTo>
                <a:lnTo>
                  <a:pt x="3283515" y="2938746"/>
                </a:lnTo>
                <a:lnTo>
                  <a:pt x="0" y="293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87697" y="7266249"/>
            <a:ext cx="3631708" cy="3250379"/>
          </a:xfrm>
          <a:custGeom>
            <a:avLst/>
            <a:gdLst/>
            <a:ahLst/>
            <a:cxnLst/>
            <a:rect r="r" b="b" t="t" l="l"/>
            <a:pathLst>
              <a:path h="3250379" w="3631708">
                <a:moveTo>
                  <a:pt x="0" y="0"/>
                </a:moveTo>
                <a:lnTo>
                  <a:pt x="3631708" y="0"/>
                </a:lnTo>
                <a:lnTo>
                  <a:pt x="3631708" y="3250378"/>
                </a:lnTo>
                <a:lnTo>
                  <a:pt x="0" y="32503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80396" y="482510"/>
            <a:ext cx="8226647" cy="9321979"/>
          </a:xfrm>
          <a:custGeom>
            <a:avLst/>
            <a:gdLst/>
            <a:ahLst/>
            <a:cxnLst/>
            <a:rect r="r" b="b" t="t" l="l"/>
            <a:pathLst>
              <a:path h="9321979" w="8226647">
                <a:moveTo>
                  <a:pt x="0" y="0"/>
                </a:moveTo>
                <a:lnTo>
                  <a:pt x="8226647" y="0"/>
                </a:lnTo>
                <a:lnTo>
                  <a:pt x="8226647" y="9321980"/>
                </a:lnTo>
                <a:lnTo>
                  <a:pt x="0" y="9321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359655" y="4638227"/>
            <a:ext cx="11690956" cy="2409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8"/>
              </a:lnSpc>
            </a:pPr>
            <a:r>
              <a:rPr lang="en-US" sz="2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Es la plataforma inteligente diseñada para</a:t>
            </a:r>
            <a:r>
              <a:rPr lang="en-US" b="true" sz="23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Pymes</a:t>
            </a:r>
            <a:r>
              <a:rPr lang="en-US" sz="2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que</a:t>
            </a:r>
            <a:r>
              <a:rPr lang="en-US" b="true" sz="23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sufren por el quiebre y el sobrestock</a:t>
            </a:r>
            <a:r>
              <a:rPr lang="en-US" sz="2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 Dejando atrás la rigidez de los sistemas tradicionales, transformamos la información de tus archivos</a:t>
            </a:r>
            <a:r>
              <a:rPr lang="en-US" b="true" sz="23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CSV</a:t>
            </a:r>
            <a:r>
              <a:rPr lang="en-US" sz="2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en decisiones de</a:t>
            </a:r>
            <a:r>
              <a:rPr lang="en-US" b="true" sz="23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compra seguras</a:t>
            </a:r>
            <a:r>
              <a:rPr lang="en-US" sz="2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 Utilizamos </a:t>
            </a:r>
            <a:r>
              <a:rPr lang="en-US" b="true" sz="23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Inteligencia Artificial que recomienda  realizar compras antes del quiebre de stock ademas de como vender tus producto inactivos  </a:t>
            </a:r>
            <a:r>
              <a:rPr lang="en-US" sz="2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, alertarte sobre riesgos inminentes y decirte exactamente</a:t>
            </a:r>
            <a:r>
              <a:rPr lang="en-US" b="true" sz="232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qué, cuánto y cuándo comprar</a:t>
            </a:r>
            <a:r>
              <a:rPr lang="en-US" sz="232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garantizando así el stock óptimo y maximizando la rentabilidad de tu negocio.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475436" y="6554387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2" y="0"/>
                </a:lnTo>
                <a:lnTo>
                  <a:pt x="1443572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5082303">
            <a:off x="607013" y="5997130"/>
            <a:ext cx="1443572" cy="1423723"/>
          </a:xfrm>
          <a:custGeom>
            <a:avLst/>
            <a:gdLst/>
            <a:ahLst/>
            <a:cxnLst/>
            <a:rect r="r" b="b" t="t" l="l"/>
            <a:pathLst>
              <a:path h="1423723" w="1443572">
                <a:moveTo>
                  <a:pt x="0" y="0"/>
                </a:moveTo>
                <a:lnTo>
                  <a:pt x="1443573" y="0"/>
                </a:lnTo>
                <a:lnTo>
                  <a:pt x="1443573" y="1423723"/>
                </a:lnTo>
                <a:lnTo>
                  <a:pt x="0" y="1423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2209184" y="-391848"/>
            <a:ext cx="3150471" cy="3154414"/>
          </a:xfrm>
          <a:custGeom>
            <a:avLst/>
            <a:gdLst/>
            <a:ahLst/>
            <a:cxnLst/>
            <a:rect r="r" b="b" t="t" l="l"/>
            <a:pathLst>
              <a:path h="3154414" w="3150471">
                <a:moveTo>
                  <a:pt x="0" y="0"/>
                </a:moveTo>
                <a:lnTo>
                  <a:pt x="3150471" y="0"/>
                </a:lnTo>
                <a:lnTo>
                  <a:pt x="3150471" y="3154414"/>
                </a:lnTo>
                <a:lnTo>
                  <a:pt x="0" y="3154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1000"/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862516" y="3824818"/>
            <a:ext cx="7994547" cy="59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83"/>
              </a:lnSpc>
            </a:pPr>
            <a:r>
              <a:rPr lang="en-US" sz="3488" spc="558">
                <a:solidFill>
                  <a:srgbClr val="F7D958"/>
                </a:solidFill>
                <a:latin typeface="Inter"/>
                <a:ea typeface="Inter"/>
                <a:cs typeface="Inter"/>
                <a:sym typeface="Inter"/>
              </a:rPr>
              <a:t>INVEX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20322" y="1835698"/>
            <a:ext cx="6423154" cy="58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63"/>
              </a:lnSpc>
            </a:pPr>
            <a:r>
              <a:rPr lang="en-US" sz="3402" spc="544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OBJETIVO GENERAL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24225" y="2468933"/>
            <a:ext cx="9293716" cy="83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436"/>
              </a:lnSpc>
            </a:pPr>
            <a:r>
              <a:rPr lang="en-US" b="true" sz="5501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Nuestra Visión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718068">
            <a:off x="15472226" y="-565006"/>
            <a:ext cx="3097973" cy="30979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49609" y="8814356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4933">
            <a:off x="13948544" y="991570"/>
            <a:ext cx="622170" cy="6221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9444018" y="5485198"/>
            <a:ext cx="6236572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9444018" y="6235995"/>
            <a:ext cx="6236572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9444018" y="6986792"/>
            <a:ext cx="6236572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444018" y="7737589"/>
            <a:ext cx="6236572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-392612" y="374775"/>
            <a:ext cx="10848892" cy="10284409"/>
          </a:xfrm>
          <a:custGeom>
            <a:avLst/>
            <a:gdLst/>
            <a:ahLst/>
            <a:cxnLst/>
            <a:rect r="r" b="b" t="t" l="l"/>
            <a:pathLst>
              <a:path h="10284409" w="10848892">
                <a:moveTo>
                  <a:pt x="0" y="0"/>
                </a:moveTo>
                <a:lnTo>
                  <a:pt x="10848892" y="0"/>
                </a:lnTo>
                <a:lnTo>
                  <a:pt x="10848892" y="10284409"/>
                </a:lnTo>
                <a:lnTo>
                  <a:pt x="0" y="102844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6" t="0" r="-456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148012" y="-1501780"/>
            <a:ext cx="5738150" cy="5390383"/>
          </a:xfrm>
          <a:custGeom>
            <a:avLst/>
            <a:gdLst/>
            <a:ahLst/>
            <a:cxnLst/>
            <a:rect r="r" b="b" t="t" l="l"/>
            <a:pathLst>
              <a:path h="5390383" w="5738150">
                <a:moveTo>
                  <a:pt x="0" y="0"/>
                </a:moveTo>
                <a:lnTo>
                  <a:pt x="5738150" y="0"/>
                </a:lnTo>
                <a:lnTo>
                  <a:pt x="5738150" y="5390383"/>
                </a:lnTo>
                <a:lnTo>
                  <a:pt x="0" y="5390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789699" y="3058785"/>
            <a:ext cx="5415546" cy="166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 Desarrollo Ágil con Scrum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38231" y="4972992"/>
            <a:ext cx="8254956" cy="37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264" indent="-234132" lvl="1">
              <a:lnSpc>
                <a:spcPts val="3036"/>
              </a:lnSpc>
              <a:spcBef>
                <a:spcPct val="0"/>
              </a:spcBef>
              <a:buFont typeface="Arial"/>
              <a:buChar char="•"/>
            </a:pPr>
            <a:r>
              <a:rPr lang="en-US" sz="2168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Organización en Sprints (5 en total en Ciclos de 2 semanas)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38231" y="5674755"/>
            <a:ext cx="8254956" cy="37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264" indent="-234132" lvl="1">
              <a:lnSpc>
                <a:spcPts val="3036"/>
              </a:lnSpc>
              <a:spcBef>
                <a:spcPct val="0"/>
              </a:spcBef>
              <a:buFont typeface="Arial"/>
              <a:buChar char="•"/>
            </a:pPr>
            <a:r>
              <a:rPr lang="en-US" sz="2168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Desarrollo modular basado en Épicas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38231" y="6376518"/>
            <a:ext cx="8254956" cy="37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264" indent="-234132" lvl="1">
              <a:lnSpc>
                <a:spcPts val="3036"/>
              </a:lnSpc>
              <a:spcBef>
                <a:spcPct val="0"/>
              </a:spcBef>
              <a:buFont typeface="Arial"/>
              <a:buChar char="•"/>
            </a:pPr>
            <a:r>
              <a:rPr lang="en-US" sz="2168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Entregas incrementales y funcionales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38231" y="7078281"/>
            <a:ext cx="8254956" cy="37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264" indent="-234132" lvl="1">
              <a:lnSpc>
                <a:spcPts val="3036"/>
              </a:lnSpc>
              <a:spcBef>
                <a:spcPct val="0"/>
              </a:spcBef>
              <a:buFont typeface="Arial"/>
              <a:buChar char="•"/>
            </a:pPr>
            <a:r>
              <a:rPr lang="en-US" sz="2168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Priorización por Historias de Usuario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38231" y="7780044"/>
            <a:ext cx="8254956" cy="373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264" indent="-234132" lvl="1">
              <a:lnSpc>
                <a:spcPts val="3036"/>
              </a:lnSpc>
              <a:spcBef>
                <a:spcPct val="0"/>
              </a:spcBef>
              <a:buFont typeface="Arial"/>
              <a:buChar char="•"/>
            </a:pPr>
            <a:r>
              <a:rPr lang="en-US" sz="2168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Adaptabilidad y mejora continua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89699" y="2491876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METODOLOGÍA DE TRABAJO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9663281">
            <a:off x="13343777" y="6543747"/>
            <a:ext cx="5738150" cy="5390383"/>
          </a:xfrm>
          <a:custGeom>
            <a:avLst/>
            <a:gdLst/>
            <a:ahLst/>
            <a:cxnLst/>
            <a:rect r="r" b="b" t="t" l="l"/>
            <a:pathLst>
              <a:path h="5390383" w="5738150">
                <a:moveTo>
                  <a:pt x="0" y="0"/>
                </a:moveTo>
                <a:lnTo>
                  <a:pt x="5738150" y="0"/>
                </a:lnTo>
                <a:lnTo>
                  <a:pt x="5738150" y="5390383"/>
                </a:lnTo>
                <a:lnTo>
                  <a:pt x="0" y="53903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7718068">
            <a:off x="-996953" y="8111333"/>
            <a:ext cx="3097973" cy="309797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49609" y="8814356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84933">
            <a:off x="2576032" y="9412180"/>
            <a:ext cx="622170" cy="62217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0" y="6677540"/>
            <a:ext cx="6908219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0" y="7682447"/>
            <a:ext cx="6908219" cy="0"/>
          </a:xfrm>
          <a:prstGeom prst="line">
            <a:avLst/>
          </a:prstGeom>
          <a:ln cap="flat" w="19050">
            <a:gradFill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23119" y="7920572"/>
            <a:ext cx="2763998" cy="2121369"/>
          </a:xfrm>
          <a:custGeom>
            <a:avLst/>
            <a:gdLst/>
            <a:ahLst/>
            <a:cxnLst/>
            <a:rect r="r" b="b" t="t" l="l"/>
            <a:pathLst>
              <a:path h="2121369" w="2763998">
                <a:moveTo>
                  <a:pt x="0" y="0"/>
                </a:moveTo>
                <a:lnTo>
                  <a:pt x="2763998" y="0"/>
                </a:lnTo>
                <a:lnTo>
                  <a:pt x="2763998" y="2121368"/>
                </a:lnTo>
                <a:lnTo>
                  <a:pt x="0" y="212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7718068">
            <a:off x="10786971" y="-1743869"/>
            <a:ext cx="2529119" cy="252911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107801" y="-4743255"/>
            <a:ext cx="9548555" cy="7187458"/>
          </a:xfrm>
          <a:custGeom>
            <a:avLst/>
            <a:gdLst/>
            <a:ahLst/>
            <a:cxnLst/>
            <a:rect r="r" b="b" t="t" l="l"/>
            <a:pathLst>
              <a:path h="7187458" w="9548555">
                <a:moveTo>
                  <a:pt x="0" y="0"/>
                </a:moveTo>
                <a:lnTo>
                  <a:pt x="9548555" y="0"/>
                </a:lnTo>
                <a:lnTo>
                  <a:pt x="9548555" y="7187457"/>
                </a:lnTo>
                <a:lnTo>
                  <a:pt x="0" y="71874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7718068">
            <a:off x="10651460" y="-818990"/>
            <a:ext cx="1860742" cy="186074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73830" y="-96002"/>
            <a:ext cx="11052364" cy="5498551"/>
          </a:xfrm>
          <a:custGeom>
            <a:avLst/>
            <a:gdLst/>
            <a:ahLst/>
            <a:cxnLst/>
            <a:rect r="r" b="b" t="t" l="l"/>
            <a:pathLst>
              <a:path h="5498551" w="11052364">
                <a:moveTo>
                  <a:pt x="0" y="0"/>
                </a:moveTo>
                <a:lnTo>
                  <a:pt x="11052364" y="0"/>
                </a:lnTo>
                <a:lnTo>
                  <a:pt x="11052364" y="5498551"/>
                </a:lnTo>
                <a:lnTo>
                  <a:pt x="0" y="54985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908219" y="5402549"/>
            <a:ext cx="11301259" cy="4901921"/>
          </a:xfrm>
          <a:custGeom>
            <a:avLst/>
            <a:gdLst/>
            <a:ahLst/>
            <a:cxnLst/>
            <a:rect r="r" b="b" t="t" l="l"/>
            <a:pathLst>
              <a:path h="4901921" w="11301259">
                <a:moveTo>
                  <a:pt x="0" y="0"/>
                </a:moveTo>
                <a:lnTo>
                  <a:pt x="11301259" y="0"/>
                </a:lnTo>
                <a:lnTo>
                  <a:pt x="11301259" y="4901921"/>
                </a:lnTo>
                <a:lnTo>
                  <a:pt x="0" y="49019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978534" y="2813698"/>
            <a:ext cx="7081255" cy="189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441"/>
              </a:lnSpc>
            </a:pPr>
            <a:r>
              <a:rPr lang="en-US" b="true" sz="6360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PRODUCT BACKLOG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27087" y="2201981"/>
            <a:ext cx="4632702" cy="56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75"/>
              </a:lnSpc>
            </a:pPr>
            <a:r>
              <a:rPr lang="en-US" sz="3339" spc="534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SPRINTS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" y="6951257"/>
            <a:ext cx="9143972" cy="40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693" indent="-259347" lvl="1">
              <a:lnSpc>
                <a:spcPts val="3363"/>
              </a:lnSpc>
              <a:spcBef>
                <a:spcPct val="0"/>
              </a:spcBef>
              <a:buFont typeface="Arial"/>
              <a:buChar char="•"/>
            </a:pPr>
            <a:r>
              <a:rPr lang="en-US" sz="2402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Puntos basados en </a:t>
            </a:r>
            <a:r>
              <a:rPr lang="en-US" b="true" sz="2402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Planning Poker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77925" y="7071587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4" y="0"/>
                </a:lnTo>
                <a:lnTo>
                  <a:pt x="721734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9574" y="2114044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2" y="0"/>
                </a:lnTo>
                <a:lnTo>
                  <a:pt x="578252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4506" y="416036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718068">
            <a:off x="5493" y="-853349"/>
            <a:ext cx="2467179" cy="24671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718068">
            <a:off x="17192330" y="9054211"/>
            <a:ext cx="780916" cy="7809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78104" y="2027467"/>
            <a:ext cx="16448191" cy="7417202"/>
          </a:xfrm>
          <a:custGeom>
            <a:avLst/>
            <a:gdLst/>
            <a:ahLst/>
            <a:cxnLst/>
            <a:rect r="r" b="b" t="t" l="l"/>
            <a:pathLst>
              <a:path h="7417202" w="16448191">
                <a:moveTo>
                  <a:pt x="0" y="0"/>
                </a:moveTo>
                <a:lnTo>
                  <a:pt x="16448192" y="0"/>
                </a:lnTo>
                <a:lnTo>
                  <a:pt x="16448192" y="7417202"/>
                </a:lnTo>
                <a:lnTo>
                  <a:pt x="0" y="7417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839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059933" y="1000456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b="true" sz="5600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Carta gantt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7567" y="8169440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74355" y="1303865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2" y="0"/>
                </a:lnTo>
                <a:lnTo>
                  <a:pt x="578252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4506" y="416036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718068">
            <a:off x="7974352" y="8660096"/>
            <a:ext cx="3313055" cy="331305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718068">
            <a:off x="11459915" y="-1013808"/>
            <a:ext cx="2467179" cy="246717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718068">
            <a:off x="8937890" y="274933"/>
            <a:ext cx="780916" cy="78091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7718068">
            <a:off x="6362347" y="8758765"/>
            <a:ext cx="1056961" cy="105696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302639" y="2259896"/>
            <a:ext cx="12710050" cy="6046424"/>
          </a:xfrm>
          <a:custGeom>
            <a:avLst/>
            <a:gdLst/>
            <a:ahLst/>
            <a:cxnLst/>
            <a:rect r="r" b="b" t="t" l="l"/>
            <a:pathLst>
              <a:path h="6046424" w="12710050">
                <a:moveTo>
                  <a:pt x="0" y="0"/>
                </a:moveTo>
                <a:lnTo>
                  <a:pt x="12710051" y="0"/>
                </a:lnTo>
                <a:lnTo>
                  <a:pt x="12710051" y="6046425"/>
                </a:lnTo>
                <a:lnTo>
                  <a:pt x="0" y="60464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833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04950" y="2514300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Estructura del Sistema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4950" y="2014066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ARQUITECTURA TÉCNICA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28700" y="3621486"/>
            <a:ext cx="7866788" cy="4547954"/>
            <a:chOff x="0" y="0"/>
            <a:chExt cx="10489051" cy="6063939"/>
          </a:xfrm>
        </p:grpSpPr>
        <p:sp>
          <p:nvSpPr>
            <p:cNvPr name="AutoShape 24" id="24"/>
            <p:cNvSpPr/>
            <p:nvPr/>
          </p:nvSpPr>
          <p:spPr>
            <a:xfrm>
              <a:off x="123568" y="1748777"/>
              <a:ext cx="9858287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123568" y="615027"/>
              <a:ext cx="9782573" cy="25238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0" y="3435807"/>
              <a:ext cx="9757335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123568" y="4605509"/>
              <a:ext cx="9858287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0" y="6051239"/>
              <a:ext cx="9757335" cy="0"/>
            </a:xfrm>
            <a:prstGeom prst="line">
              <a:avLst/>
            </a:prstGeom>
            <a:ln cap="flat" w="25400">
              <a:gradFill>
                <a:gsLst>
                  <a:gs pos="0">
                    <a:srgbClr val="83ABEE">
                      <a:alpha val="100000"/>
                    </a:srgbClr>
                  </a:gs>
                  <a:gs pos="50000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9" id="29"/>
            <p:cNvSpPr txBox="true"/>
            <p:nvPr/>
          </p:nvSpPr>
          <p:spPr>
            <a:xfrm rot="0">
              <a:off x="123568" y="922187"/>
              <a:ext cx="352594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Frontend Reactivo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812861" y="731475"/>
              <a:ext cx="6676190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Interfaz construida en Vue.js (SPA) para una navegación rápida y fluida.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649512" y="2001553"/>
              <a:ext cx="6347849" cy="1307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Conexión mediante REST API, intercambiando datos ligeros en formato JSON.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07799" y="2066158"/>
              <a:ext cx="3357483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Comunicación Eficiente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123568" y="-47625"/>
              <a:ext cx="352594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Puntos Clave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23568" y="3778918"/>
              <a:ext cx="352594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Backend Robusto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3812861" y="3588207"/>
              <a:ext cx="6676190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Lógica de negocio y seguridad gestionada por Django (Python).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649512" y="4858285"/>
              <a:ext cx="6347849" cy="862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193682"/>
                  </a:solidFill>
                  <a:latin typeface="Inter"/>
                  <a:ea typeface="Inter"/>
                  <a:cs typeface="Inter"/>
                  <a:sym typeface="Inter"/>
                </a:rPr>
                <a:t>Base de datos relacional PostgreSQL para máxima integridad de datos.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07799" y="4922890"/>
              <a:ext cx="3357483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193682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Persistencia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2020" y="328431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9751" y="2344932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1" y="0"/>
                </a:lnTo>
                <a:lnTo>
                  <a:pt x="578251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14457" y="6803131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718068">
            <a:off x="5493" y="-853349"/>
            <a:ext cx="2467179" cy="24671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718068">
            <a:off x="16889690" y="4402230"/>
            <a:ext cx="780916" cy="7809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-1586724"/>
            <a:ext cx="16137961" cy="14382958"/>
          </a:xfrm>
          <a:custGeom>
            <a:avLst/>
            <a:gdLst/>
            <a:ahLst/>
            <a:cxnLst/>
            <a:rect r="r" b="b" t="t" l="l"/>
            <a:pathLst>
              <a:path h="14382958" w="16137961">
                <a:moveTo>
                  <a:pt x="0" y="0"/>
                </a:moveTo>
                <a:lnTo>
                  <a:pt x="16137961" y="0"/>
                </a:lnTo>
                <a:lnTo>
                  <a:pt x="16137961" y="14382958"/>
                </a:lnTo>
                <a:lnTo>
                  <a:pt x="0" y="14382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874204" y="1021848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b="true" sz="5600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Base de datos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74204" y="521614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ARQUITECTURA TÉCNICA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12020" y="328431"/>
            <a:ext cx="721733" cy="810936"/>
          </a:xfrm>
          <a:custGeom>
            <a:avLst/>
            <a:gdLst/>
            <a:ahLst/>
            <a:cxnLst/>
            <a:rect r="r" b="b" t="t" l="l"/>
            <a:pathLst>
              <a:path h="810936" w="721733">
                <a:moveTo>
                  <a:pt x="0" y="0"/>
                </a:moveTo>
                <a:lnTo>
                  <a:pt x="721733" y="0"/>
                </a:lnTo>
                <a:lnTo>
                  <a:pt x="721733" y="810936"/>
                </a:lnTo>
                <a:lnTo>
                  <a:pt x="0" y="81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9751" y="2344932"/>
            <a:ext cx="578252" cy="649721"/>
          </a:xfrm>
          <a:custGeom>
            <a:avLst/>
            <a:gdLst/>
            <a:ahLst/>
            <a:cxnLst/>
            <a:rect r="r" b="b" t="t" l="l"/>
            <a:pathLst>
              <a:path h="649721" w="578252">
                <a:moveTo>
                  <a:pt x="0" y="0"/>
                </a:moveTo>
                <a:lnTo>
                  <a:pt x="578251" y="0"/>
                </a:lnTo>
                <a:lnTo>
                  <a:pt x="578251" y="649721"/>
                </a:lnTo>
                <a:lnTo>
                  <a:pt x="0" y="649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34001" y="862797"/>
            <a:ext cx="492295" cy="553140"/>
          </a:xfrm>
          <a:custGeom>
            <a:avLst/>
            <a:gdLst/>
            <a:ahLst/>
            <a:cxnLst/>
            <a:rect r="r" b="b" t="t" l="l"/>
            <a:pathLst>
              <a:path h="553140" w="492295">
                <a:moveTo>
                  <a:pt x="0" y="0"/>
                </a:moveTo>
                <a:lnTo>
                  <a:pt x="492295" y="0"/>
                </a:lnTo>
                <a:lnTo>
                  <a:pt x="492295" y="553140"/>
                </a:lnTo>
                <a:lnTo>
                  <a:pt x="0" y="55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14506" y="4160368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7718068">
            <a:off x="5493" y="-853349"/>
            <a:ext cx="2467179" cy="24671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7718068">
            <a:off x="16889690" y="4402230"/>
            <a:ext cx="780916" cy="78091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54136" y="-641129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69534" y="9258300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4269" y="2344932"/>
            <a:ext cx="17759463" cy="7125427"/>
          </a:xfrm>
          <a:custGeom>
            <a:avLst/>
            <a:gdLst/>
            <a:ahLst/>
            <a:cxnLst/>
            <a:rect r="r" b="b" t="t" l="l"/>
            <a:pathLst>
              <a:path h="7125427" w="17759463">
                <a:moveTo>
                  <a:pt x="0" y="0"/>
                </a:moveTo>
                <a:lnTo>
                  <a:pt x="17759462" y="0"/>
                </a:lnTo>
                <a:lnTo>
                  <a:pt x="17759462" y="7125427"/>
                </a:lnTo>
                <a:lnTo>
                  <a:pt x="0" y="7125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56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831608" y="1148892"/>
            <a:ext cx="10201546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52"/>
              </a:lnSpc>
            </a:pPr>
            <a:r>
              <a:rPr lang="en-US" b="true" sz="5600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Plan de Costos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37948" y="-742419"/>
            <a:ext cx="18763895" cy="4910442"/>
            <a:chOff x="0" y="0"/>
            <a:chExt cx="4941931" cy="1293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41931" cy="1293285"/>
            </a:xfrm>
            <a:custGeom>
              <a:avLst/>
              <a:gdLst/>
              <a:ahLst/>
              <a:cxnLst/>
              <a:rect r="r" b="b" t="t" l="l"/>
              <a:pathLst>
                <a:path h="1293285" w="4941931">
                  <a:moveTo>
                    <a:pt x="8665" y="0"/>
                  </a:moveTo>
                  <a:lnTo>
                    <a:pt x="4933267" y="0"/>
                  </a:lnTo>
                  <a:cubicBezTo>
                    <a:pt x="4935565" y="0"/>
                    <a:pt x="4937769" y="913"/>
                    <a:pt x="4939393" y="2538"/>
                  </a:cubicBezTo>
                  <a:cubicBezTo>
                    <a:pt x="4941019" y="4163"/>
                    <a:pt x="4941931" y="6367"/>
                    <a:pt x="4941931" y="8665"/>
                  </a:cubicBezTo>
                  <a:lnTo>
                    <a:pt x="4941931" y="1284621"/>
                  </a:lnTo>
                  <a:cubicBezTo>
                    <a:pt x="4941931" y="1289406"/>
                    <a:pt x="4938052" y="1293285"/>
                    <a:pt x="4933267" y="1293285"/>
                  </a:cubicBezTo>
                  <a:lnTo>
                    <a:pt x="8665" y="1293285"/>
                  </a:lnTo>
                  <a:cubicBezTo>
                    <a:pt x="3879" y="1293285"/>
                    <a:pt x="0" y="1289406"/>
                    <a:pt x="0" y="1284621"/>
                  </a:cubicBezTo>
                  <a:lnTo>
                    <a:pt x="0" y="8665"/>
                  </a:lnTo>
                  <a:cubicBezTo>
                    <a:pt x="0" y="3879"/>
                    <a:pt x="3879" y="0"/>
                    <a:pt x="86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41931" cy="1331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388454">
            <a:off x="-1113631" y="-401925"/>
            <a:ext cx="9031111" cy="8229600"/>
          </a:xfrm>
          <a:custGeom>
            <a:avLst/>
            <a:gdLst/>
            <a:ahLst/>
            <a:cxnLst/>
            <a:rect r="r" b="b" t="t" l="l"/>
            <a:pathLst>
              <a:path h="8229600" w="9031111">
                <a:moveTo>
                  <a:pt x="9031111" y="0"/>
                </a:moveTo>
                <a:lnTo>
                  <a:pt x="0" y="0"/>
                </a:lnTo>
                <a:lnTo>
                  <a:pt x="0" y="8229600"/>
                </a:lnTo>
                <a:lnTo>
                  <a:pt x="9031111" y="8229600"/>
                </a:lnTo>
                <a:lnTo>
                  <a:pt x="903111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1691">
            <a:off x="-1221921" y="806162"/>
            <a:ext cx="8961257" cy="8524396"/>
          </a:xfrm>
          <a:custGeom>
            <a:avLst/>
            <a:gdLst/>
            <a:ahLst/>
            <a:cxnLst/>
            <a:rect r="r" b="b" t="t" l="l"/>
            <a:pathLst>
              <a:path h="8524396" w="8961257">
                <a:moveTo>
                  <a:pt x="0" y="0"/>
                </a:moveTo>
                <a:lnTo>
                  <a:pt x="8961258" y="0"/>
                </a:lnTo>
                <a:lnTo>
                  <a:pt x="8961258" y="8524396"/>
                </a:lnTo>
                <a:lnTo>
                  <a:pt x="0" y="8524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431629" y="5175521"/>
            <a:ext cx="3954667" cy="625056"/>
            <a:chOff x="0" y="0"/>
            <a:chExt cx="946316" cy="1495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46316" cy="149570"/>
            </a:xfrm>
            <a:custGeom>
              <a:avLst/>
              <a:gdLst/>
              <a:ahLst/>
              <a:cxnLst/>
              <a:rect r="r" b="b" t="t" l="l"/>
              <a:pathLst>
                <a:path h="149570" w="946316">
                  <a:moveTo>
                    <a:pt x="45026" y="0"/>
                  </a:moveTo>
                  <a:lnTo>
                    <a:pt x="901290" y="0"/>
                  </a:lnTo>
                  <a:cubicBezTo>
                    <a:pt x="926157" y="0"/>
                    <a:pt x="946316" y="20159"/>
                    <a:pt x="946316" y="45026"/>
                  </a:cubicBezTo>
                  <a:lnTo>
                    <a:pt x="946316" y="104544"/>
                  </a:lnTo>
                  <a:cubicBezTo>
                    <a:pt x="946316" y="116486"/>
                    <a:pt x="941572" y="127938"/>
                    <a:pt x="933128" y="136382"/>
                  </a:cubicBezTo>
                  <a:cubicBezTo>
                    <a:pt x="924684" y="144826"/>
                    <a:pt x="913232" y="149570"/>
                    <a:pt x="901290" y="149570"/>
                  </a:cubicBezTo>
                  <a:lnTo>
                    <a:pt x="45026" y="149570"/>
                  </a:lnTo>
                  <a:cubicBezTo>
                    <a:pt x="33085" y="149570"/>
                    <a:pt x="21632" y="144826"/>
                    <a:pt x="13188" y="136382"/>
                  </a:cubicBezTo>
                  <a:cubicBezTo>
                    <a:pt x="4744" y="127938"/>
                    <a:pt x="0" y="116486"/>
                    <a:pt x="0" y="104544"/>
                  </a:cubicBezTo>
                  <a:lnTo>
                    <a:pt x="0" y="45026"/>
                  </a:lnTo>
                  <a:cubicBezTo>
                    <a:pt x="0" y="33085"/>
                    <a:pt x="4744" y="21632"/>
                    <a:pt x="13188" y="13188"/>
                  </a:cubicBezTo>
                  <a:cubicBezTo>
                    <a:pt x="21632" y="4744"/>
                    <a:pt x="33085" y="0"/>
                    <a:pt x="450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46316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8011940" y="5068360"/>
            <a:ext cx="839377" cy="839377"/>
          </a:xfrm>
          <a:custGeom>
            <a:avLst/>
            <a:gdLst/>
            <a:ahLst/>
            <a:cxnLst/>
            <a:rect r="r" b="b" t="t" l="l"/>
            <a:pathLst>
              <a:path h="839377" w="839377">
                <a:moveTo>
                  <a:pt x="0" y="0"/>
                </a:moveTo>
                <a:lnTo>
                  <a:pt x="839378" y="0"/>
                </a:lnTo>
                <a:lnTo>
                  <a:pt x="839378" y="839377"/>
                </a:lnTo>
                <a:lnTo>
                  <a:pt x="0" y="839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383563" y="5175521"/>
            <a:ext cx="4431437" cy="625056"/>
            <a:chOff x="0" y="0"/>
            <a:chExt cx="1060403" cy="1495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0403" cy="149570"/>
            </a:xfrm>
            <a:custGeom>
              <a:avLst/>
              <a:gdLst/>
              <a:ahLst/>
              <a:cxnLst/>
              <a:rect r="r" b="b" t="t" l="l"/>
              <a:pathLst>
                <a:path h="149570" w="1060403">
                  <a:moveTo>
                    <a:pt x="40182" y="0"/>
                  </a:moveTo>
                  <a:lnTo>
                    <a:pt x="1020221" y="0"/>
                  </a:lnTo>
                  <a:cubicBezTo>
                    <a:pt x="1042413" y="0"/>
                    <a:pt x="1060403" y="17990"/>
                    <a:pt x="1060403" y="40182"/>
                  </a:cubicBezTo>
                  <a:lnTo>
                    <a:pt x="1060403" y="109388"/>
                  </a:lnTo>
                  <a:cubicBezTo>
                    <a:pt x="1060403" y="131580"/>
                    <a:pt x="1042413" y="149570"/>
                    <a:pt x="1020221" y="149570"/>
                  </a:cubicBezTo>
                  <a:lnTo>
                    <a:pt x="40182" y="149570"/>
                  </a:lnTo>
                  <a:cubicBezTo>
                    <a:pt x="17990" y="149570"/>
                    <a:pt x="0" y="131580"/>
                    <a:pt x="0" y="109388"/>
                  </a:cubicBezTo>
                  <a:lnTo>
                    <a:pt x="0" y="40182"/>
                  </a:lnTo>
                  <a:cubicBezTo>
                    <a:pt x="0" y="17990"/>
                    <a:pt x="17990" y="0"/>
                    <a:pt x="4018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60403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3137296" y="5146344"/>
            <a:ext cx="839740" cy="757865"/>
          </a:xfrm>
          <a:custGeom>
            <a:avLst/>
            <a:gdLst/>
            <a:ahLst/>
            <a:cxnLst/>
            <a:rect r="r" b="b" t="t" l="l"/>
            <a:pathLst>
              <a:path h="757865" w="839740">
                <a:moveTo>
                  <a:pt x="0" y="0"/>
                </a:moveTo>
                <a:lnTo>
                  <a:pt x="839740" y="0"/>
                </a:lnTo>
                <a:lnTo>
                  <a:pt x="839740" y="757865"/>
                </a:lnTo>
                <a:lnTo>
                  <a:pt x="0" y="7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10800000">
            <a:off x="8431629" y="7804806"/>
            <a:ext cx="3954667" cy="625056"/>
            <a:chOff x="0" y="0"/>
            <a:chExt cx="946316" cy="1495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6316" cy="149570"/>
            </a:xfrm>
            <a:custGeom>
              <a:avLst/>
              <a:gdLst/>
              <a:ahLst/>
              <a:cxnLst/>
              <a:rect r="r" b="b" t="t" l="l"/>
              <a:pathLst>
                <a:path h="149570" w="946316">
                  <a:moveTo>
                    <a:pt x="45026" y="0"/>
                  </a:moveTo>
                  <a:lnTo>
                    <a:pt x="901290" y="0"/>
                  </a:lnTo>
                  <a:cubicBezTo>
                    <a:pt x="926157" y="0"/>
                    <a:pt x="946316" y="20159"/>
                    <a:pt x="946316" y="45026"/>
                  </a:cubicBezTo>
                  <a:lnTo>
                    <a:pt x="946316" y="104544"/>
                  </a:lnTo>
                  <a:cubicBezTo>
                    <a:pt x="946316" y="116486"/>
                    <a:pt x="941572" y="127938"/>
                    <a:pt x="933128" y="136382"/>
                  </a:cubicBezTo>
                  <a:cubicBezTo>
                    <a:pt x="924684" y="144826"/>
                    <a:pt x="913232" y="149570"/>
                    <a:pt x="901290" y="149570"/>
                  </a:cubicBezTo>
                  <a:lnTo>
                    <a:pt x="45026" y="149570"/>
                  </a:lnTo>
                  <a:cubicBezTo>
                    <a:pt x="33085" y="149570"/>
                    <a:pt x="21632" y="144826"/>
                    <a:pt x="13188" y="136382"/>
                  </a:cubicBezTo>
                  <a:cubicBezTo>
                    <a:pt x="4744" y="127938"/>
                    <a:pt x="0" y="116486"/>
                    <a:pt x="0" y="104544"/>
                  </a:cubicBezTo>
                  <a:lnTo>
                    <a:pt x="0" y="45026"/>
                  </a:lnTo>
                  <a:cubicBezTo>
                    <a:pt x="0" y="33085"/>
                    <a:pt x="4744" y="21632"/>
                    <a:pt x="13188" y="13188"/>
                  </a:cubicBezTo>
                  <a:cubicBezTo>
                    <a:pt x="21632" y="4744"/>
                    <a:pt x="33085" y="0"/>
                    <a:pt x="450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46316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13383563" y="7804806"/>
            <a:ext cx="4563724" cy="625056"/>
            <a:chOff x="0" y="0"/>
            <a:chExt cx="1092058" cy="1495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2058" cy="149570"/>
            </a:xfrm>
            <a:custGeom>
              <a:avLst/>
              <a:gdLst/>
              <a:ahLst/>
              <a:cxnLst/>
              <a:rect r="r" b="b" t="t" l="l"/>
              <a:pathLst>
                <a:path h="149570" w="1092058">
                  <a:moveTo>
                    <a:pt x="39017" y="0"/>
                  </a:moveTo>
                  <a:lnTo>
                    <a:pt x="1053041" y="0"/>
                  </a:lnTo>
                  <a:cubicBezTo>
                    <a:pt x="1074589" y="0"/>
                    <a:pt x="1092058" y="17469"/>
                    <a:pt x="1092058" y="39017"/>
                  </a:cubicBezTo>
                  <a:lnTo>
                    <a:pt x="1092058" y="110553"/>
                  </a:lnTo>
                  <a:cubicBezTo>
                    <a:pt x="1092058" y="132102"/>
                    <a:pt x="1074589" y="149570"/>
                    <a:pt x="1053041" y="149570"/>
                  </a:cubicBezTo>
                  <a:lnTo>
                    <a:pt x="39017" y="149570"/>
                  </a:lnTo>
                  <a:cubicBezTo>
                    <a:pt x="17469" y="149570"/>
                    <a:pt x="0" y="132102"/>
                    <a:pt x="0" y="110553"/>
                  </a:cubicBezTo>
                  <a:lnTo>
                    <a:pt x="0" y="39017"/>
                  </a:lnTo>
                  <a:cubicBezTo>
                    <a:pt x="0" y="17469"/>
                    <a:pt x="17469" y="0"/>
                    <a:pt x="390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92058" cy="1876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137296" y="7775629"/>
            <a:ext cx="839740" cy="757865"/>
          </a:xfrm>
          <a:custGeom>
            <a:avLst/>
            <a:gdLst/>
            <a:ahLst/>
            <a:cxnLst/>
            <a:rect r="r" b="b" t="t" l="l"/>
            <a:pathLst>
              <a:path h="757865" w="839740">
                <a:moveTo>
                  <a:pt x="0" y="0"/>
                </a:moveTo>
                <a:lnTo>
                  <a:pt x="839740" y="0"/>
                </a:lnTo>
                <a:lnTo>
                  <a:pt x="839740" y="757865"/>
                </a:lnTo>
                <a:lnTo>
                  <a:pt x="0" y="757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23" r="0" b="-623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063127" y="7508336"/>
            <a:ext cx="839740" cy="921525"/>
          </a:xfrm>
          <a:custGeom>
            <a:avLst/>
            <a:gdLst/>
            <a:ahLst/>
            <a:cxnLst/>
            <a:rect r="r" b="b" t="t" l="l"/>
            <a:pathLst>
              <a:path h="921525" w="839740">
                <a:moveTo>
                  <a:pt x="0" y="0"/>
                </a:moveTo>
                <a:lnTo>
                  <a:pt x="839740" y="0"/>
                </a:lnTo>
                <a:lnTo>
                  <a:pt x="839740" y="921525"/>
                </a:lnTo>
                <a:lnTo>
                  <a:pt x="0" y="921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214187" y="2274017"/>
            <a:ext cx="11403592" cy="940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324"/>
              </a:lnSpc>
            </a:pPr>
            <a:r>
              <a:rPr lang="en-US" b="true" sz="625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¿Por qué elegir Invex?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14187" y="1733344"/>
            <a:ext cx="7179992" cy="53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86"/>
              </a:lnSpc>
            </a:pPr>
            <a:r>
              <a:rPr lang="en-US" sz="3133" spc="501">
                <a:solidFill>
                  <a:srgbClr val="F7D958"/>
                </a:solidFill>
                <a:latin typeface="Inter"/>
                <a:ea typeface="Inter"/>
                <a:cs typeface="Inter"/>
                <a:sym typeface="Inter"/>
              </a:rPr>
              <a:t>IMPACTO EN EL NEGOCIO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54054" y="5286129"/>
            <a:ext cx="3178343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Reducción de Costos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31629" y="5922055"/>
            <a:ext cx="4087540" cy="1271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81"/>
              </a:lnSpc>
            </a:pPr>
            <a:r>
              <a:rPr lang="en-US" sz="187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Disminuye los gastos operativos y </a:t>
            </a:r>
            <a:r>
              <a:rPr lang="en-US" b="true" sz="1870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elimina las pérdidas</a:t>
            </a:r>
            <a:r>
              <a:rPr lang="en-US" sz="187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generadas por errores manuales y sobrecarga de bodega.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74444" y="5286129"/>
            <a:ext cx="3740555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Optimización de Capital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36508" y="5922055"/>
            <a:ext cx="4257833" cy="132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0"/>
              </a:lnSpc>
              <a:spcBef>
                <a:spcPct val="0"/>
              </a:spcBef>
            </a:pPr>
            <a:r>
              <a:rPr lang="en-US" b="true" sz="1921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Maximiza la rentabilidad</a:t>
            </a:r>
            <a:r>
              <a:rPr lang="en-US" sz="1921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de tu inversión, evitando tener dinero "inactivo" en productos que no rotan.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954054" y="7915414"/>
            <a:ext cx="3348690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Decisiones Estratégicas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04739" y="8553686"/>
            <a:ext cx="3781557" cy="128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6"/>
              </a:lnSpc>
              <a:spcBef>
                <a:spcPct val="0"/>
              </a:spcBef>
            </a:pP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Pasa de la intuición a la certeza. </a:t>
            </a: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Usa datos reales</a:t>
            </a: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 y recomendaciones para planificar </a:t>
            </a: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compras inteligentes.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74444" y="7915414"/>
            <a:ext cx="3740555" cy="361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  <a:r>
              <a:rPr lang="en-US" sz="209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Disponibilidad Asegurada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83695" y="8657319"/>
            <a:ext cx="4031304" cy="963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66"/>
              </a:lnSpc>
              <a:spcBef>
                <a:spcPct val="0"/>
              </a:spcBef>
            </a:pPr>
            <a:r>
              <a:rPr lang="en-US" b="true" sz="1833">
                <a:solidFill>
                  <a:srgbClr val="2A8513"/>
                </a:solidFill>
                <a:latin typeface="Inter Bold"/>
                <a:ea typeface="Inter Bold"/>
                <a:cs typeface="Inter Bold"/>
                <a:sym typeface="Inter Bold"/>
              </a:rPr>
              <a:t>Garantiza el stock </a:t>
            </a:r>
            <a:r>
              <a:rPr lang="en-US" sz="1833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de tus productos críticos para no perder ni una sola venta por falta de mercancía.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87697" y="-734176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69"/>
                </a:lnTo>
                <a:lnTo>
                  <a:pt x="0" y="2455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42147" y="1231927"/>
            <a:ext cx="2743206" cy="2455169"/>
          </a:xfrm>
          <a:custGeom>
            <a:avLst/>
            <a:gdLst/>
            <a:ahLst/>
            <a:cxnLst/>
            <a:rect r="r" b="b" t="t" l="l"/>
            <a:pathLst>
              <a:path h="2455169" w="2743206">
                <a:moveTo>
                  <a:pt x="0" y="0"/>
                </a:moveTo>
                <a:lnTo>
                  <a:pt x="2743206" y="0"/>
                </a:lnTo>
                <a:lnTo>
                  <a:pt x="2743206" y="2455170"/>
                </a:lnTo>
                <a:lnTo>
                  <a:pt x="0" y="2455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7718068">
            <a:off x="2199481" y="-2932558"/>
            <a:ext cx="3969460" cy="396946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6493672">
            <a:off x="610805" y="212880"/>
            <a:ext cx="835790" cy="83579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1534138">
            <a:off x="10444353" y="212880"/>
            <a:ext cx="835790" cy="83579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254411" y="9737615"/>
            <a:ext cx="19273043" cy="1479770"/>
            <a:chOff x="0" y="0"/>
            <a:chExt cx="5076028" cy="3897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76028" cy="389734"/>
            </a:xfrm>
            <a:custGeom>
              <a:avLst/>
              <a:gdLst/>
              <a:ahLst/>
              <a:cxnLst/>
              <a:rect r="r" b="b" t="t" l="l"/>
              <a:pathLst>
                <a:path h="389734" w="5076028">
                  <a:moveTo>
                    <a:pt x="8436" y="0"/>
                  </a:moveTo>
                  <a:lnTo>
                    <a:pt x="5067592" y="0"/>
                  </a:lnTo>
                  <a:cubicBezTo>
                    <a:pt x="5072251" y="0"/>
                    <a:pt x="5076028" y="3777"/>
                    <a:pt x="5076028" y="8436"/>
                  </a:cubicBezTo>
                  <a:lnTo>
                    <a:pt x="5076028" y="381298"/>
                  </a:lnTo>
                  <a:cubicBezTo>
                    <a:pt x="5076028" y="383535"/>
                    <a:pt x="5075139" y="385681"/>
                    <a:pt x="5073557" y="387263"/>
                  </a:cubicBezTo>
                  <a:cubicBezTo>
                    <a:pt x="5071975" y="388845"/>
                    <a:pt x="5069829" y="389734"/>
                    <a:pt x="5067592" y="389734"/>
                  </a:cubicBezTo>
                  <a:lnTo>
                    <a:pt x="8436" y="389734"/>
                  </a:lnTo>
                  <a:cubicBezTo>
                    <a:pt x="3777" y="389734"/>
                    <a:pt x="0" y="385957"/>
                    <a:pt x="0" y="381298"/>
                  </a:cubicBezTo>
                  <a:lnTo>
                    <a:pt x="0" y="8436"/>
                  </a:lnTo>
                  <a:cubicBezTo>
                    <a:pt x="0" y="3777"/>
                    <a:pt x="3777" y="0"/>
                    <a:pt x="843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3ABEE">
                    <a:alpha val="100000"/>
                  </a:srgbClr>
                </a:gs>
                <a:gs pos="50000">
                  <a:srgbClr val="5D82E9">
                    <a:alpha val="100000"/>
                  </a:srgbClr>
                </a:gs>
                <a:gs pos="100000">
                  <a:srgbClr val="224198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5076028" cy="427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2049" y="3800008"/>
            <a:ext cx="7537896" cy="3565164"/>
            <a:chOff x="0" y="0"/>
            <a:chExt cx="1921937" cy="9090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21937" cy="909010"/>
            </a:xfrm>
            <a:custGeom>
              <a:avLst/>
              <a:gdLst/>
              <a:ahLst/>
              <a:cxnLst/>
              <a:rect r="r" b="b" t="t" l="l"/>
              <a:pathLst>
                <a:path h="909010" w="1921937">
                  <a:moveTo>
                    <a:pt x="23623" y="0"/>
                  </a:moveTo>
                  <a:lnTo>
                    <a:pt x="1898314" y="0"/>
                  </a:lnTo>
                  <a:cubicBezTo>
                    <a:pt x="1904579" y="0"/>
                    <a:pt x="1910588" y="2489"/>
                    <a:pt x="1915018" y="6919"/>
                  </a:cubicBezTo>
                  <a:cubicBezTo>
                    <a:pt x="1919448" y="11349"/>
                    <a:pt x="1921937" y="17357"/>
                    <a:pt x="1921937" y="23623"/>
                  </a:cubicBezTo>
                  <a:lnTo>
                    <a:pt x="1921937" y="885387"/>
                  </a:lnTo>
                  <a:cubicBezTo>
                    <a:pt x="1921937" y="898433"/>
                    <a:pt x="1911361" y="909010"/>
                    <a:pt x="1898314" y="909010"/>
                  </a:cubicBezTo>
                  <a:lnTo>
                    <a:pt x="23623" y="909010"/>
                  </a:lnTo>
                  <a:cubicBezTo>
                    <a:pt x="10576" y="909010"/>
                    <a:pt x="0" y="898433"/>
                    <a:pt x="0" y="885387"/>
                  </a:cubicBezTo>
                  <a:lnTo>
                    <a:pt x="0" y="23623"/>
                  </a:lnTo>
                  <a:cubicBezTo>
                    <a:pt x="0" y="10576"/>
                    <a:pt x="10576" y="0"/>
                    <a:pt x="2362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FCFEFF">
                      <a:alpha val="100000"/>
                    </a:srgbClr>
                  </a:gs>
                  <a:gs pos="33333">
                    <a:srgbClr val="83ABEE">
                      <a:alpha val="100000"/>
                    </a:srgbClr>
                  </a:gs>
                  <a:gs pos="66667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21937" cy="947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1419579" y="4365579"/>
            <a:ext cx="362963" cy="362963"/>
          </a:xfrm>
          <a:custGeom>
            <a:avLst/>
            <a:gdLst/>
            <a:ahLst/>
            <a:cxnLst/>
            <a:rect r="r" b="b" t="t" l="l"/>
            <a:pathLst>
              <a:path h="362963" w="362963">
                <a:moveTo>
                  <a:pt x="0" y="0"/>
                </a:moveTo>
                <a:lnTo>
                  <a:pt x="362963" y="0"/>
                </a:lnTo>
                <a:lnTo>
                  <a:pt x="362963" y="362962"/>
                </a:lnTo>
                <a:lnTo>
                  <a:pt x="0" y="362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662386" y="1591975"/>
            <a:ext cx="12963228" cy="84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Obstáculos y Resultados Obtenidos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662386" y="1091741"/>
            <a:ext cx="6423154" cy="49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23"/>
              </a:lnSpc>
            </a:pPr>
            <a:r>
              <a:rPr lang="en-US" sz="2802" spc="448">
                <a:solidFill>
                  <a:srgbClr val="C68817"/>
                </a:solidFill>
                <a:latin typeface="Inter"/>
                <a:ea typeface="Inter"/>
                <a:cs typeface="Inter"/>
                <a:sym typeface="Inter"/>
              </a:rPr>
              <a:t>CONCLUSION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20375" y="3807101"/>
            <a:ext cx="7890959" cy="3549596"/>
            <a:chOff x="0" y="0"/>
            <a:chExt cx="2011957" cy="905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957" cy="905040"/>
            </a:xfrm>
            <a:custGeom>
              <a:avLst/>
              <a:gdLst/>
              <a:ahLst/>
              <a:cxnLst/>
              <a:rect r="r" b="b" t="t" l="l"/>
              <a:pathLst>
                <a:path h="905040" w="2011957">
                  <a:moveTo>
                    <a:pt x="22566" y="0"/>
                  </a:moveTo>
                  <a:lnTo>
                    <a:pt x="1989392" y="0"/>
                  </a:lnTo>
                  <a:cubicBezTo>
                    <a:pt x="2001854" y="0"/>
                    <a:pt x="2011957" y="10103"/>
                    <a:pt x="2011957" y="22566"/>
                  </a:cubicBezTo>
                  <a:lnTo>
                    <a:pt x="2011957" y="882475"/>
                  </a:lnTo>
                  <a:cubicBezTo>
                    <a:pt x="2011957" y="888459"/>
                    <a:pt x="2009580" y="894199"/>
                    <a:pt x="2005348" y="898431"/>
                  </a:cubicBezTo>
                  <a:cubicBezTo>
                    <a:pt x="2001116" y="902663"/>
                    <a:pt x="1995376" y="905040"/>
                    <a:pt x="1989392" y="905040"/>
                  </a:cubicBezTo>
                  <a:lnTo>
                    <a:pt x="22566" y="905040"/>
                  </a:lnTo>
                  <a:cubicBezTo>
                    <a:pt x="10103" y="905040"/>
                    <a:pt x="0" y="894937"/>
                    <a:pt x="0" y="882475"/>
                  </a:cubicBezTo>
                  <a:lnTo>
                    <a:pt x="0" y="22566"/>
                  </a:lnTo>
                  <a:cubicBezTo>
                    <a:pt x="0" y="16581"/>
                    <a:pt x="2377" y="10841"/>
                    <a:pt x="6609" y="6609"/>
                  </a:cubicBezTo>
                  <a:cubicBezTo>
                    <a:pt x="10841" y="2377"/>
                    <a:pt x="16581" y="0"/>
                    <a:pt x="225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50000">
                  <a:srgbClr val="F9FDFF">
                    <a:alpha val="100000"/>
                  </a:srgbClr>
                </a:gs>
                <a:gs pos="100000">
                  <a:srgbClr val="E1F2FA">
                    <a:alpha val="100000"/>
                  </a:srgbClr>
                </a:gs>
              </a:gsLst>
              <a:lin ang="2700000"/>
            </a:gradFill>
            <a:ln w="38100" cap="rnd">
              <a:gradFill>
                <a:gsLst>
                  <a:gs pos="0">
                    <a:srgbClr val="FCFEFF">
                      <a:alpha val="100000"/>
                    </a:srgbClr>
                  </a:gs>
                  <a:gs pos="33333">
                    <a:srgbClr val="83ABEE">
                      <a:alpha val="100000"/>
                    </a:srgbClr>
                  </a:gs>
                  <a:gs pos="66667">
                    <a:srgbClr val="5D82E9">
                      <a:alpha val="100000"/>
                    </a:srgbClr>
                  </a:gs>
                  <a:gs pos="100000">
                    <a:srgbClr val="224198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11957" cy="943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16653" y="4294183"/>
            <a:ext cx="6655192" cy="7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8"/>
              </a:lnSpc>
              <a:spcBef>
                <a:spcPct val="0"/>
              </a:spcBef>
            </a:pPr>
            <a:r>
              <a:rPr lang="en-US" sz="2256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Importación de inventario exitosa, eliminando la carga manual.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82110" y="3522385"/>
            <a:ext cx="3045686" cy="623937"/>
            <a:chOff x="0" y="0"/>
            <a:chExt cx="776558" cy="1590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76558" cy="159085"/>
            </a:xfrm>
            <a:custGeom>
              <a:avLst/>
              <a:gdLst/>
              <a:ahLst/>
              <a:cxnLst/>
              <a:rect r="r" b="b" t="t" l="l"/>
              <a:pathLst>
                <a:path h="159085" w="776558">
                  <a:moveTo>
                    <a:pt x="30503" y="0"/>
                  </a:moveTo>
                  <a:lnTo>
                    <a:pt x="746055" y="0"/>
                  </a:lnTo>
                  <a:cubicBezTo>
                    <a:pt x="762902" y="0"/>
                    <a:pt x="776558" y="13657"/>
                    <a:pt x="776558" y="30503"/>
                  </a:cubicBezTo>
                  <a:lnTo>
                    <a:pt x="776558" y="128582"/>
                  </a:lnTo>
                  <a:cubicBezTo>
                    <a:pt x="776558" y="145428"/>
                    <a:pt x="762902" y="159085"/>
                    <a:pt x="746055" y="159085"/>
                  </a:cubicBezTo>
                  <a:lnTo>
                    <a:pt x="30503" y="159085"/>
                  </a:lnTo>
                  <a:cubicBezTo>
                    <a:pt x="13657" y="159085"/>
                    <a:pt x="0" y="145428"/>
                    <a:pt x="0" y="128582"/>
                  </a:cubicBezTo>
                  <a:lnTo>
                    <a:pt x="0" y="30503"/>
                  </a:lnTo>
                  <a:cubicBezTo>
                    <a:pt x="0" y="13657"/>
                    <a:pt x="13657" y="0"/>
                    <a:pt x="3050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01E">
                    <a:alpha val="100000"/>
                  </a:srgbClr>
                </a:gs>
                <a:gs pos="100000">
                  <a:srgbClr val="6CA62C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76558" cy="197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382110" y="3639472"/>
            <a:ext cx="3045686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7"/>
              </a:lnSpc>
              <a:spcBef>
                <a:spcPct val="0"/>
              </a:spcBef>
            </a:pPr>
            <a:r>
              <a:rPr lang="en-US" b="true" sz="1962" spc="31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RESULTADOS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0170" y="3530860"/>
            <a:ext cx="3265365" cy="623937"/>
            <a:chOff x="0" y="0"/>
            <a:chExt cx="832570" cy="1590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32570" cy="159085"/>
            </a:xfrm>
            <a:custGeom>
              <a:avLst/>
              <a:gdLst/>
              <a:ahLst/>
              <a:cxnLst/>
              <a:rect r="r" b="b" t="t" l="l"/>
              <a:pathLst>
                <a:path h="159085" w="832570">
                  <a:moveTo>
                    <a:pt x="28451" y="0"/>
                  </a:moveTo>
                  <a:lnTo>
                    <a:pt x="804119" y="0"/>
                  </a:lnTo>
                  <a:cubicBezTo>
                    <a:pt x="819832" y="0"/>
                    <a:pt x="832570" y="12738"/>
                    <a:pt x="832570" y="28451"/>
                  </a:cubicBezTo>
                  <a:lnTo>
                    <a:pt x="832570" y="130634"/>
                  </a:lnTo>
                  <a:cubicBezTo>
                    <a:pt x="832570" y="146347"/>
                    <a:pt x="819832" y="159085"/>
                    <a:pt x="804119" y="159085"/>
                  </a:cubicBezTo>
                  <a:lnTo>
                    <a:pt x="28451" y="159085"/>
                  </a:lnTo>
                  <a:cubicBezTo>
                    <a:pt x="12738" y="159085"/>
                    <a:pt x="0" y="146347"/>
                    <a:pt x="0" y="130634"/>
                  </a:cubicBezTo>
                  <a:lnTo>
                    <a:pt x="0" y="28451"/>
                  </a:lnTo>
                  <a:cubicBezTo>
                    <a:pt x="0" y="12738"/>
                    <a:pt x="12738" y="0"/>
                    <a:pt x="2845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88B7B">
                    <a:alpha val="100000"/>
                  </a:srgbClr>
                </a:gs>
                <a:gs pos="50000">
                  <a:srgbClr val="E26655">
                    <a:alpha val="100000"/>
                  </a:srgbClr>
                </a:gs>
                <a:gs pos="100000">
                  <a:srgbClr val="B4443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32570" cy="197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586196" y="4605070"/>
            <a:ext cx="7153749" cy="39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Dependencia de el formato C.S.V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0170" y="3647946"/>
            <a:ext cx="3265365" cy="342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7"/>
              </a:lnSpc>
              <a:spcBef>
                <a:spcPct val="0"/>
              </a:spcBef>
            </a:pPr>
            <a:r>
              <a:rPr lang="en-US" b="true" sz="1962" spc="31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OBSTACULOS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9527835" y="5472720"/>
            <a:ext cx="392541" cy="417268"/>
          </a:xfrm>
          <a:custGeom>
            <a:avLst/>
            <a:gdLst/>
            <a:ahLst/>
            <a:cxnLst/>
            <a:rect r="r" b="b" t="t" l="l"/>
            <a:pathLst>
              <a:path h="417268" w="392541">
                <a:moveTo>
                  <a:pt x="0" y="0"/>
                </a:moveTo>
                <a:lnTo>
                  <a:pt x="392540" y="0"/>
                </a:lnTo>
                <a:lnTo>
                  <a:pt x="392540" y="417268"/>
                </a:lnTo>
                <a:lnTo>
                  <a:pt x="0" y="41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49" t="0" r="-3149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187075" y="5334498"/>
            <a:ext cx="7322268" cy="782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8"/>
              </a:lnSpc>
              <a:spcBef>
                <a:spcPct val="0"/>
              </a:spcBef>
            </a:pPr>
            <a:r>
              <a:rPr lang="en-US" sz="2256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Dashboard funcional con KPIs y alertas de quiebre en tiempo real.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9557413" y="4365579"/>
            <a:ext cx="392541" cy="417268"/>
          </a:xfrm>
          <a:custGeom>
            <a:avLst/>
            <a:gdLst/>
            <a:ahLst/>
            <a:cxnLst/>
            <a:rect r="r" b="b" t="t" l="l"/>
            <a:pathLst>
              <a:path h="417268" w="392541">
                <a:moveTo>
                  <a:pt x="0" y="0"/>
                </a:moveTo>
                <a:lnTo>
                  <a:pt x="392540" y="0"/>
                </a:lnTo>
                <a:lnTo>
                  <a:pt x="392540" y="417268"/>
                </a:lnTo>
                <a:lnTo>
                  <a:pt x="0" y="41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49" t="0" r="-3149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586196" y="5374438"/>
            <a:ext cx="7153749" cy="39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Dificultades con versiones de GitHub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911819" y="5382123"/>
            <a:ext cx="403337" cy="423577"/>
          </a:xfrm>
          <a:custGeom>
            <a:avLst/>
            <a:gdLst/>
            <a:ahLst/>
            <a:cxnLst/>
            <a:rect r="r" b="b" t="t" l="l"/>
            <a:pathLst>
              <a:path h="423577" w="403337">
                <a:moveTo>
                  <a:pt x="0" y="0"/>
                </a:moveTo>
                <a:lnTo>
                  <a:pt x="403337" y="0"/>
                </a:lnTo>
                <a:lnTo>
                  <a:pt x="403337" y="423577"/>
                </a:lnTo>
                <a:lnTo>
                  <a:pt x="0" y="423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9" t="0" r="-2509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586196" y="5989567"/>
            <a:ext cx="7040824" cy="391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06"/>
              </a:lnSpc>
              <a:spcBef>
                <a:spcPct val="0"/>
              </a:spcBef>
            </a:pPr>
            <a:r>
              <a:rPr lang="en-US" sz="2290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Problemas con Implementación de envió de GMAIL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940170" y="6133439"/>
            <a:ext cx="403337" cy="423577"/>
          </a:xfrm>
          <a:custGeom>
            <a:avLst/>
            <a:gdLst/>
            <a:ahLst/>
            <a:cxnLst/>
            <a:rect r="r" b="b" t="t" l="l"/>
            <a:pathLst>
              <a:path h="423577" w="403337">
                <a:moveTo>
                  <a:pt x="0" y="0"/>
                </a:moveTo>
                <a:lnTo>
                  <a:pt x="403337" y="0"/>
                </a:lnTo>
                <a:lnTo>
                  <a:pt x="403337" y="423577"/>
                </a:lnTo>
                <a:lnTo>
                  <a:pt x="0" y="423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9" t="0" r="-2509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11819" y="4652695"/>
            <a:ext cx="403337" cy="423577"/>
          </a:xfrm>
          <a:custGeom>
            <a:avLst/>
            <a:gdLst/>
            <a:ahLst/>
            <a:cxnLst/>
            <a:rect r="r" b="b" t="t" l="l"/>
            <a:pathLst>
              <a:path h="423577" w="403337">
                <a:moveTo>
                  <a:pt x="0" y="0"/>
                </a:moveTo>
                <a:lnTo>
                  <a:pt x="403337" y="0"/>
                </a:lnTo>
                <a:lnTo>
                  <a:pt x="403337" y="423578"/>
                </a:lnTo>
                <a:lnTo>
                  <a:pt x="0" y="423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9" t="0" r="-2509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527835" y="6495351"/>
            <a:ext cx="392541" cy="417268"/>
          </a:xfrm>
          <a:custGeom>
            <a:avLst/>
            <a:gdLst/>
            <a:ahLst/>
            <a:cxnLst/>
            <a:rect r="r" b="b" t="t" l="l"/>
            <a:pathLst>
              <a:path h="417268" w="392541">
                <a:moveTo>
                  <a:pt x="0" y="0"/>
                </a:moveTo>
                <a:lnTo>
                  <a:pt x="392540" y="0"/>
                </a:lnTo>
                <a:lnTo>
                  <a:pt x="392540" y="417269"/>
                </a:lnTo>
                <a:lnTo>
                  <a:pt x="0" y="4172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49" t="0" r="-3149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0187075" y="6526417"/>
            <a:ext cx="7322268" cy="38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8"/>
              </a:lnSpc>
              <a:spcBef>
                <a:spcPct val="0"/>
              </a:spcBef>
            </a:pPr>
            <a:r>
              <a:rPr lang="en-US" sz="2256">
                <a:solidFill>
                  <a:srgbClr val="193682"/>
                </a:solidFill>
                <a:latin typeface="Inter"/>
                <a:ea typeface="Inter"/>
                <a:cs typeface="Inter"/>
                <a:sym typeface="Inter"/>
              </a:rPr>
              <a:t>Implementación de IA con reportes.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8FDFF">
                <a:alpha val="100000"/>
              </a:srgbClr>
            </a:gs>
            <a:gs pos="100000">
              <a:srgbClr val="EFFAFF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0604" y="2656332"/>
            <a:ext cx="15448696" cy="4155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2"/>
              </a:lnSpc>
            </a:pPr>
            <a:r>
              <a:rPr lang="en-US" sz="5600" b="true">
                <a:solidFill>
                  <a:srgbClr val="193682"/>
                </a:solidFill>
                <a:latin typeface="Inter Bold"/>
                <a:ea typeface="Inter Bold"/>
                <a:cs typeface="Inter Bold"/>
                <a:sym typeface="Inter Bold"/>
              </a:rPr>
              <a:t>https://www.canva.com/design/DAG5GYnlGIA/Wmik8SWI1wiSLyiWmlH0cA/edit?utm_content=DAG5GYnlGIA&amp;utm_campaign=designshare&amp;utm_medium=link2&amp;utm_source=sharebutton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DAG5GYnlGIA</dc:identifier>
  <dcterms:modified xsi:type="dcterms:W3CDTF">2011-08-01T06:04:30Z</dcterms:modified>
  <cp:revision>1</cp:revision>
  <dc:title>INVEX</dc:title>
</cp:coreProperties>
</file>